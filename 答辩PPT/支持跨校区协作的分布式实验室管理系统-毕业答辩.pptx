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Master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1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7F4EC"/>
          </a:solidFill>
          <a:ln w="12700">
            <a:solidFill>
              <a:srgbClr val="F7F4EC"/>
            </a:solidFill>
          </a:ln>
        </p:spPr>
        <p:txBody>
          <a:bodyPr/>
          <a:lstStyle/>
          <a:p/>
        </p:txBody>
      </p:sp>
      <p:sp>
        <p:nvSpPr>
          <p:cNvPr id="3" name="Shape 3"/>
          <p:cNvSpPr/>
          <p:nvPr/>
        </p:nvSpPr>
        <p:spPr>
          <a:xfrm>
            <a:off x="0" y="0"/>
            <a:ext cx="4617720" cy="6858000"/>
          </a:xfrm>
          <a:prstGeom prst="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pic>
        <p:nvPicPr>
          <p:cNvPr id="4" name="campus"/>
          <p:cNvPicPr/>
          <p:nvPr/>
        </p:nvPicPr>
        <p:blipFill>
          <a:blip r:embed="rId2"/>
          <a:stretch>
            <a:fillRect/>
          </a:stretch>
        </p:blipFill>
        <p:spPr>
          <a:xfrm>
            <a:off x="4617720" y="0"/>
            <a:ext cx="7580375" cy="6858000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4617720" y="0"/>
            <a:ext cx="7580375" cy="6858000"/>
          </a:xfrm>
          <a:prstGeom prst="rect">
            <a:avLst/>
          </a:prstGeom>
          <a:solidFill>
            <a:srgbClr val="113A48">
              <a:alpha val="53000"/>
            </a:srgbClr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pic>
        <p:nvPicPr>
          <p:cNvPr id="6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475488" cy="475488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261872" y="603504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400" b="1">
                <a:solidFill>
                  <a:srgbClr val="D8E5DF"/>
                </a:solidFill>
                <a:latin typeface="Microsoft YaHei"/>
                <a:ea typeface="Microsoft YaHei"/>
              </a:rPr>
              <a:t>毕业设计答辩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94944" y="1335024"/>
            <a:ext cx="3611880" cy="15361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96000"/>
              </a:lnSpc>
            </a:pPr>
            <a:r>
              <a:rPr lang="zh-CN" sz="3100" b="1">
                <a:solidFill>
                  <a:srgbClr val="F7F4EC"/>
                </a:solidFill>
                <a:latin typeface="Microsoft YaHei"/>
                <a:ea typeface="Microsoft YaHei"/>
              </a:rPr>
              <a:t>支持跨校区协作的</a:t>
            </a:r>
          </a:p>
          <a:p>
            <a:pPr algn="l" marL="0" marR="0" indent="0">
              <a:lnSpc>
                <a:spcPct val="96000"/>
              </a:lnSpc>
            </a:pPr>
            <a:r>
              <a:rPr lang="zh-CN" sz="3100" b="1">
                <a:solidFill>
                  <a:srgbClr val="F7F4EC"/>
                </a:solidFill>
                <a:latin typeface="Microsoft YaHei"/>
                <a:ea typeface="Microsoft YaHei"/>
              </a:rPr>
              <a:t>分布式实验室</a:t>
            </a:r>
          </a:p>
          <a:p>
            <a:pPr algn="l" marL="0" marR="0" indent="0">
              <a:lnSpc>
                <a:spcPct val="96000"/>
              </a:lnSpc>
            </a:pPr>
            <a:r>
              <a:rPr lang="zh-CN" sz="3100" b="1">
                <a:solidFill>
                  <a:srgbClr val="F7F4EC"/>
                </a:solidFill>
                <a:latin typeface="Microsoft YaHei"/>
                <a:ea typeface="Microsoft YaHei"/>
              </a:rPr>
              <a:t>管理系统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713232" y="3154680"/>
            <a:ext cx="2578608" cy="1"/>
          </a:xfrm>
          <a:prstGeom prst="line">
            <a:avLst/>
          </a:prstGeom>
          <a:ln w="27940">
            <a:solidFill>
              <a:srgbClr val="C28A3A"/>
            </a:solidFill>
          </a:ln>
        </p:spPr>
      </p:cxnSp>
      <p:sp>
        <p:nvSpPr>
          <p:cNvPr id="10" name="TextBox 10"/>
          <p:cNvSpPr txBox="1"/>
          <p:nvPr/>
        </p:nvSpPr>
        <p:spPr>
          <a:xfrm>
            <a:off x="731520" y="3401568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400">
                <a:solidFill>
                  <a:srgbClr val="D8E5DF"/>
                </a:solidFill>
                <a:latin typeface="Microsoft YaHei"/>
                <a:ea typeface="Microsoft YaHei"/>
              </a:rPr>
              <a:t>统一资源管理 / 预约审批 / 权限隔离 / Agent 智能助手</a:t>
            </a:r>
          </a:p>
        </p:txBody>
      </p:sp>
      <p:sp>
        <p:nvSpPr>
          <p:cNvPr id="11" name="Shape 11"/>
          <p:cNvSpPr/>
          <p:nvPr/>
        </p:nvSpPr>
        <p:spPr>
          <a:xfrm>
            <a:off x="749808" y="4279392"/>
            <a:ext cx="1143000" cy="347472"/>
          </a:xfrm>
          <a:prstGeom prst="roundRect">
            <a:avLst/>
          </a:prstGeom>
          <a:solidFill>
            <a:srgbClr val="DCE9E2"/>
          </a:solidFill>
          <a:ln w="12700">
            <a:solidFill>
              <a:srgbClr val="DCE9E2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22959" y="4361688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13A48"/>
                </a:solidFill>
                <a:latin typeface="Microsoft YaHei"/>
                <a:ea typeface="Microsoft YaHei"/>
              </a:rPr>
              <a:t>Flask</a:t>
            </a:r>
          </a:p>
        </p:txBody>
      </p:sp>
      <p:sp>
        <p:nvSpPr>
          <p:cNvPr id="13" name="Shape 13"/>
          <p:cNvSpPr/>
          <p:nvPr/>
        </p:nvSpPr>
        <p:spPr>
          <a:xfrm>
            <a:off x="1627632" y="4279392"/>
            <a:ext cx="1143000" cy="347472"/>
          </a:xfrm>
          <a:prstGeom prst="roundRect">
            <a:avLst/>
          </a:prstGeom>
          <a:solidFill>
            <a:srgbClr val="DCE9E2"/>
          </a:solidFill>
          <a:ln w="12700">
            <a:solidFill>
              <a:srgbClr val="DCE9E2"/>
            </a:solidFill>
          </a:ln>
        </p:spPr>
        <p:txBody>
          <a:bodyPr/>
          <a:lstStyle/>
          <a:p/>
        </p:txBody>
      </p:sp>
      <p:sp>
        <p:nvSpPr>
          <p:cNvPr id="14" name="TextBox 14"/>
          <p:cNvSpPr txBox="1"/>
          <p:nvPr/>
        </p:nvSpPr>
        <p:spPr>
          <a:xfrm>
            <a:off x="1700784" y="4361688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13A48"/>
                </a:solidFill>
                <a:latin typeface="Microsoft YaHei"/>
                <a:ea typeface="Microsoft YaHei"/>
              </a:rPr>
              <a:t>SQLAlchemy</a:t>
            </a:r>
          </a:p>
        </p:txBody>
      </p:sp>
      <p:sp>
        <p:nvSpPr>
          <p:cNvPr id="15" name="Shape 15"/>
          <p:cNvSpPr/>
          <p:nvPr/>
        </p:nvSpPr>
        <p:spPr>
          <a:xfrm>
            <a:off x="2788920" y="4736592"/>
            <a:ext cx="1143000" cy="347472"/>
          </a:xfrm>
          <a:prstGeom prst="roundRect">
            <a:avLst/>
          </a:prstGeom>
          <a:solidFill>
            <a:srgbClr val="DCE9E2"/>
          </a:solidFill>
          <a:ln w="12700">
            <a:solidFill>
              <a:srgbClr val="DCE9E2"/>
            </a:solidFill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2862072" y="4818888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13A48"/>
                </a:solidFill>
                <a:latin typeface="Microsoft YaHei"/>
                <a:ea typeface="Microsoft YaHei"/>
              </a:rPr>
              <a:t>uni-app</a:t>
            </a:r>
          </a:p>
        </p:txBody>
      </p:sp>
      <p:sp>
        <p:nvSpPr>
          <p:cNvPr id="17" name="Shape 17"/>
          <p:cNvSpPr/>
          <p:nvPr/>
        </p:nvSpPr>
        <p:spPr>
          <a:xfrm>
            <a:off x="749808" y="4279392"/>
            <a:ext cx="1737360" cy="347472"/>
          </a:xfrm>
          <a:prstGeom prst="roundRect">
            <a:avLst/>
          </a:prstGeom>
          <a:solidFill>
            <a:srgbClr val="DCE9E2"/>
          </a:solidFill>
          <a:ln w="12700">
            <a:solidFill>
              <a:srgbClr val="DCE9E2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822959" y="4361688"/>
            <a:ext cx="159105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13A48"/>
                </a:solidFill>
                <a:latin typeface="Microsoft YaHei"/>
                <a:ea typeface="Microsoft YaHei"/>
              </a:rPr>
              <a:t>WeChat Mini Program</a:t>
            </a:r>
          </a:p>
        </p:txBody>
      </p:sp>
      <p:sp>
        <p:nvSpPr>
          <p:cNvPr id="19" name="Shape 19"/>
          <p:cNvSpPr/>
          <p:nvPr/>
        </p:nvSpPr>
        <p:spPr>
          <a:xfrm>
            <a:off x="2697480" y="4279392"/>
            <a:ext cx="1143000" cy="347472"/>
          </a:xfrm>
          <a:prstGeom prst="roundRect">
            <a:avLst/>
          </a:prstGeom>
          <a:solidFill>
            <a:srgbClr val="DCE9E2"/>
          </a:solidFill>
          <a:ln w="12700">
            <a:solidFill>
              <a:srgbClr val="DCE9E2"/>
            </a:solidFill>
          </a:ln>
        </p:spPr>
        <p:txBody>
          <a:bodyPr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2770632" y="4361688"/>
            <a:ext cx="99669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13A48"/>
                </a:solidFill>
                <a:latin typeface="Microsoft YaHei"/>
                <a:ea typeface="Microsoft YaHei"/>
              </a:rPr>
              <a:t>DeepSeek Agent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9808" y="5989320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>
                <a:solidFill>
                  <a:srgbClr val="E8F0EC"/>
                </a:solidFill>
                <a:latin typeface="Microsoft YaHei"/>
                <a:ea typeface="Microsoft YaHei"/>
              </a:rPr>
              <a:t>答辩人：________   指导教师：________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汇报提纲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713232" y="1307592"/>
            <a:ext cx="7315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174E63"/>
                </a:solidFill>
                <a:latin typeface="Consolas"/>
                <a:ea typeface="Consolas"/>
              </a:rPr>
              <a:t>01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1664208" y="1545336"/>
            <a:ext cx="822960" cy="1"/>
          </a:xfrm>
          <a:prstGeom prst="line">
            <a:avLst/>
          </a:prstGeom>
          <a:ln w="25400">
            <a:solidFill>
              <a:srgbClr val="174E63"/>
            </a:solidFill>
          </a:ln>
        </p:spPr>
      </p:cxnSp>
      <p:sp>
        <p:nvSpPr>
          <p:cNvPr id="7" name="TextBox 7"/>
          <p:cNvSpPr txBox="1"/>
          <p:nvPr/>
        </p:nvSpPr>
        <p:spPr>
          <a:xfrm>
            <a:off x="2743200" y="1234440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000" b="1">
                <a:solidFill>
                  <a:srgbClr val="132A34"/>
                </a:solidFill>
                <a:latin typeface="Microsoft YaHei"/>
                <a:ea typeface="Microsoft YaHei"/>
              </a:rPr>
              <a:t>背景与问题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892040" y="1271016"/>
            <a:ext cx="58521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300">
                <a:solidFill>
                  <a:srgbClr val="627279"/>
                </a:solidFill>
                <a:latin typeface="Microsoft YaHei"/>
                <a:ea typeface="Microsoft YaHei"/>
              </a:rPr>
              <a:t>多校区实验室资源分散，线下预约和审批难以形成闭环。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3232" y="2450592"/>
            <a:ext cx="7315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2D6F8F"/>
                </a:solidFill>
                <a:latin typeface="Consolas"/>
                <a:ea typeface="Consolas"/>
              </a:rPr>
              <a:t>02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1664208" y="2688336"/>
            <a:ext cx="822960" cy="1"/>
          </a:xfrm>
          <a:prstGeom prst="line">
            <a:avLst/>
          </a:prstGeom>
          <a:ln w="25400">
            <a:solidFill>
              <a:srgbClr val="2D6F8F"/>
            </a:solidFill>
          </a:ln>
        </p:spPr>
      </p:cxnSp>
      <p:sp>
        <p:nvSpPr>
          <p:cNvPr id="11" name="TextBox 11"/>
          <p:cNvSpPr txBox="1"/>
          <p:nvPr/>
        </p:nvSpPr>
        <p:spPr>
          <a:xfrm>
            <a:off x="2743200" y="2377440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000" b="1">
                <a:solidFill>
                  <a:srgbClr val="132A34"/>
                </a:solidFill>
                <a:latin typeface="Microsoft YaHei"/>
                <a:ea typeface="Microsoft YaHei"/>
              </a:rPr>
              <a:t>系统设计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892040" y="2414016"/>
            <a:ext cx="58521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300">
                <a:solidFill>
                  <a:srgbClr val="627279"/>
                </a:solidFill>
                <a:latin typeface="Microsoft YaHei"/>
                <a:ea typeface="Microsoft YaHei"/>
              </a:rPr>
              <a:t>围绕角色、资源、预约、审批、统计建立统一系统架构。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13232" y="3593592"/>
            <a:ext cx="7315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C28A3A"/>
                </a:solidFill>
                <a:latin typeface="Consolas"/>
                <a:ea typeface="Consolas"/>
              </a:rPr>
              <a:t>03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1664208" y="3831336"/>
            <a:ext cx="822960" cy="1"/>
          </a:xfrm>
          <a:prstGeom prst="line">
            <a:avLst/>
          </a:prstGeom>
          <a:ln w="25400">
            <a:solidFill>
              <a:srgbClr val="C28A3A"/>
            </a:solidFill>
          </a:ln>
        </p:spPr>
      </p:cxnSp>
      <p:sp>
        <p:nvSpPr>
          <p:cNvPr id="15" name="TextBox 15"/>
          <p:cNvSpPr txBox="1"/>
          <p:nvPr/>
        </p:nvSpPr>
        <p:spPr>
          <a:xfrm>
            <a:off x="2743200" y="3520440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000" b="1">
                <a:solidFill>
                  <a:srgbClr val="132A34"/>
                </a:solidFill>
                <a:latin typeface="Microsoft YaHei"/>
                <a:ea typeface="Microsoft YaHei"/>
              </a:rPr>
              <a:t>关键实现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892040" y="3557016"/>
            <a:ext cx="58521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300">
                <a:solidFill>
                  <a:srgbClr val="627279"/>
                </a:solidFill>
                <a:latin typeface="Microsoft YaHei"/>
                <a:ea typeface="Microsoft YaHei"/>
              </a:rPr>
              <a:t>后端分层、冲突检测、权限边界、Agent 工具链。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13232" y="4736592"/>
            <a:ext cx="73152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7BA36D"/>
                </a:solidFill>
                <a:latin typeface="Consolas"/>
                <a:ea typeface="Consolas"/>
              </a:rPr>
              <a:t>04</a:t>
            </a:r>
          </a:p>
        </p:txBody>
      </p:sp>
      <p:cxnSp>
        <p:nvCxnSpPr>
          <p:cNvPr id="18" name="Line 18"/>
          <p:cNvCxnSpPr/>
          <p:nvPr/>
        </p:nvCxnSpPr>
        <p:spPr>
          <a:xfrm>
            <a:off x="1664208" y="4974336"/>
            <a:ext cx="822960" cy="1"/>
          </a:xfrm>
          <a:prstGeom prst="line">
            <a:avLst/>
          </a:prstGeom>
          <a:ln w="25400">
            <a:solidFill>
              <a:srgbClr val="7BA36D"/>
            </a:solidFill>
          </a:ln>
        </p:spPr>
      </p:cxnSp>
      <p:sp>
        <p:nvSpPr>
          <p:cNvPr id="19" name="TextBox 19"/>
          <p:cNvSpPr txBox="1"/>
          <p:nvPr/>
        </p:nvSpPr>
        <p:spPr>
          <a:xfrm>
            <a:off x="2743200" y="4663440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000" b="1">
                <a:solidFill>
                  <a:srgbClr val="132A34"/>
                </a:solidFill>
                <a:latin typeface="Microsoft YaHei"/>
                <a:ea typeface="Microsoft YaHei"/>
              </a:rPr>
              <a:t>测试总结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892040" y="4700016"/>
            <a:ext cx="58521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300">
                <a:solidFill>
                  <a:srgbClr val="627279"/>
                </a:solidFill>
                <a:latin typeface="Microsoft YaHei"/>
                <a:ea typeface="Microsoft YaHei"/>
              </a:rPr>
              <a:t>验证核心业务流程，并说明不足与后续优化方向。</a:t>
            </a:r>
          </a:p>
        </p:txBody>
      </p:sp>
      <p:sp>
        <p:nvSpPr>
          <p:cNvPr id="21" name="Shape 21"/>
          <p:cNvSpPr/>
          <p:nvPr/>
        </p:nvSpPr>
        <p:spPr>
          <a:xfrm>
            <a:off x="685800" y="5870448"/>
            <a:ext cx="10835640" cy="292608"/>
          </a:xfrm>
          <a:prstGeom prst="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sp>
        <p:nvSpPr>
          <p:cNvPr id="22" name="TextBox 22"/>
          <p:cNvSpPr txBox="1"/>
          <p:nvPr/>
        </p:nvSpPr>
        <p:spPr>
          <a:xfrm>
            <a:off x="868680" y="5961888"/>
            <a:ext cx="10332720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F7F4EC"/>
                </a:solidFill>
                <a:latin typeface="Microsoft YaHei"/>
                <a:ea typeface="Microsoft YaHei"/>
              </a:rPr>
              <a:t>答辩主线：从真实管理痛点出发，说明系统如何用工程结构和智能助手提升规范性、透明度和效率。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研究背景与问题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713232" y="1024128"/>
            <a:ext cx="4937760" cy="7680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500" b="1">
                <a:solidFill>
                  <a:srgbClr val="132A34"/>
                </a:solidFill>
                <a:latin typeface="Microsoft YaHei"/>
                <a:ea typeface="Microsoft YaHei"/>
              </a:rPr>
              <a:t>多校区办学让实验室管理从“登记问题”升级为“协同问题”。</a:t>
            </a:r>
          </a:p>
        </p:txBody>
      </p:sp>
      <p:sp>
        <p:nvSpPr>
          <p:cNvPr id="6" name="Shape 6"/>
          <p:cNvSpPr/>
          <p:nvPr/>
        </p:nvSpPr>
        <p:spPr>
          <a:xfrm>
            <a:off x="713232" y="210312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7" name="Shape 7"/>
          <p:cNvSpPr/>
          <p:nvPr/>
        </p:nvSpPr>
        <p:spPr>
          <a:xfrm>
            <a:off x="713232" y="2103120"/>
            <a:ext cx="73152" cy="2057400"/>
          </a:xfrm>
          <a:prstGeom prst="rect">
            <a:avLst/>
          </a:prstGeom>
          <a:solidFill>
            <a:srgbClr val="174E63"/>
          </a:solidFill>
          <a:ln w="12700">
            <a:solidFill>
              <a:srgbClr val="174E63"/>
            </a:solidFill>
          </a:ln>
        </p:spPr>
        <p:txBody>
          <a:bodyPr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941832" y="2286000"/>
            <a:ext cx="30175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资源分散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1832" y="2715768"/>
            <a:ext cx="3017520" cy="1344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实验室位置、开放时段、容量和设备状态差异明显，师生难以及时判断可用资源。</a:t>
            </a:r>
          </a:p>
        </p:txBody>
      </p:sp>
      <p:sp>
        <p:nvSpPr>
          <p:cNvPr id="10" name="Shape 10"/>
          <p:cNvSpPr/>
          <p:nvPr/>
        </p:nvSpPr>
        <p:spPr>
          <a:xfrm>
            <a:off x="4407408" y="210312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4407408" y="2103120"/>
            <a:ext cx="73152" cy="2057400"/>
          </a:xfrm>
          <a:prstGeom prst="rect">
            <a:avLst/>
          </a:prstGeom>
          <a:solidFill>
            <a:srgbClr val="B75F32"/>
          </a:solidFill>
          <a:ln w="12700">
            <a:solidFill>
              <a:srgbClr val="B75F32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4636008" y="2286000"/>
            <a:ext cx="30175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流程滞后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36008" y="2715768"/>
            <a:ext cx="3017520" cy="1344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线下登记与表格维护依赖人工沟通，容易出现重复预约、审批延迟和信息遗漏。</a:t>
            </a:r>
          </a:p>
        </p:txBody>
      </p:sp>
      <p:sp>
        <p:nvSpPr>
          <p:cNvPr id="14" name="Shape 14"/>
          <p:cNvSpPr/>
          <p:nvPr/>
        </p:nvSpPr>
        <p:spPr>
          <a:xfrm>
            <a:off x="8101583" y="210312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8101583" y="2103120"/>
            <a:ext cx="73152" cy="2057400"/>
          </a:xfrm>
          <a:prstGeom prst="rect">
            <a:avLst/>
          </a:prstGeom>
          <a:solidFill>
            <a:srgbClr val="7BA36D"/>
          </a:solidFill>
          <a:ln w="12700">
            <a:solidFill>
              <a:srgbClr val="7BA36D"/>
            </a:solidFill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330183" y="2286000"/>
            <a:ext cx="30175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统计困难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30183" y="2715768"/>
            <a:ext cx="3017520" cy="1344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审批记录、使用情况、操作日志分散，管理人员缺少可追踪的数据依据。</a:t>
            </a:r>
          </a:p>
        </p:txBody>
      </p:sp>
      <p:sp>
        <p:nvSpPr>
          <p:cNvPr id="18" name="Shape 18"/>
          <p:cNvSpPr/>
          <p:nvPr/>
        </p:nvSpPr>
        <p:spPr>
          <a:xfrm>
            <a:off x="749808" y="4800600"/>
            <a:ext cx="10744200" cy="749808"/>
          </a:xfrm>
          <a:prstGeom prst="round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987552" y="5074920"/>
            <a:ext cx="102412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F7F4EC"/>
                </a:solidFill>
                <a:latin typeface="Microsoft YaHei"/>
                <a:ea typeface="Microsoft YaHei"/>
              </a:rPr>
              <a:t>课题目标：建立统一后端、多端访问、权限隔离、可追踪审批与自然语言辅助的实验室管理平台。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C9DAD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F7F4EC"/>
                </a:solidFill>
                <a:latin typeface="Microsoft YaHei"/>
                <a:ea typeface="Microsoft YaHei"/>
              </a:rPr>
              <a:t>系统建设目标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6C8B83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713232" y="1078992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100" b="1">
                <a:solidFill>
                  <a:srgbClr val="C28A3A"/>
                </a:solidFill>
                <a:latin typeface="Consolas"/>
                <a:ea typeface="Consolas"/>
              </a:rPr>
              <a:t>OBJECTIVES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713232" y="1371600"/>
            <a:ext cx="1325880" cy="1"/>
          </a:xfrm>
          <a:prstGeom prst="line">
            <a:avLst/>
          </a:prstGeom>
          <a:ln w="25400">
            <a:solidFill>
              <a:srgbClr val="C28A3A"/>
            </a:solidFill>
          </a:ln>
        </p:spPr>
      </p:cxnSp>
      <p:sp>
        <p:nvSpPr>
          <p:cNvPr id="7" name="TextBox 7"/>
          <p:cNvSpPr txBox="1"/>
          <p:nvPr/>
        </p:nvSpPr>
        <p:spPr>
          <a:xfrm>
            <a:off x="713232" y="1481328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98000"/>
              </a:lnSpc>
            </a:pPr>
            <a:r>
              <a:rPr lang="zh-CN" sz="2500" b="1">
                <a:solidFill>
                  <a:srgbClr val="F7F4EC"/>
                </a:solidFill>
                <a:latin typeface="Microsoft YaHei"/>
                <a:ea typeface="Microsoft YaHei"/>
              </a:rPr>
              <a:t>用一套平台覆盖</a:t>
            </a:r>
          </a:p>
          <a:p>
            <a:pPr algn="l" marL="0" marR="0" indent="0">
              <a:lnSpc>
                <a:spcPct val="98000"/>
              </a:lnSpc>
            </a:pPr>
            <a:r>
              <a:rPr lang="zh-CN" sz="2500" b="1">
                <a:solidFill>
                  <a:srgbClr val="F7F4EC"/>
                </a:solidFill>
                <a:latin typeface="Microsoft YaHei"/>
                <a:ea typeface="Microsoft YaHei"/>
              </a:rPr>
              <a:t>资源、预约、审批、统计与智能问答</a:t>
            </a:r>
          </a:p>
        </p:txBody>
      </p:sp>
      <p:sp>
        <p:nvSpPr>
          <p:cNvPr id="8" name="Shape 8"/>
          <p:cNvSpPr/>
          <p:nvPr/>
        </p:nvSpPr>
        <p:spPr>
          <a:xfrm>
            <a:off x="4892040" y="1170432"/>
            <a:ext cx="3063240" cy="129844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5120640" y="1380744"/>
            <a:ext cx="26517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13A48"/>
                </a:solidFill>
                <a:latin typeface="Microsoft YaHei"/>
                <a:ea typeface="Microsoft YaHei"/>
              </a:rPr>
              <a:t>统一资源组织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120640" y="1792224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校区、实验室、设备、用户与预约数据集中建模</a:t>
            </a:r>
          </a:p>
        </p:txBody>
      </p:sp>
      <p:sp>
        <p:nvSpPr>
          <p:cNvPr id="11" name="Shape 11"/>
          <p:cNvSpPr/>
          <p:nvPr/>
        </p:nvSpPr>
        <p:spPr>
          <a:xfrm>
            <a:off x="8275320" y="1170432"/>
            <a:ext cx="3063240" cy="129844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503920" y="1380744"/>
            <a:ext cx="26517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13A48"/>
                </a:solidFill>
                <a:latin typeface="Microsoft YaHei"/>
                <a:ea typeface="Microsoft YaHei"/>
              </a:rPr>
              <a:t>规范预约流程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03920" y="1792224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开放时间、容量、状态、冲突检测和审批流转统一校验</a:t>
            </a:r>
          </a:p>
        </p:txBody>
      </p:sp>
      <p:sp>
        <p:nvSpPr>
          <p:cNvPr id="14" name="Shape 14"/>
          <p:cNvSpPr/>
          <p:nvPr/>
        </p:nvSpPr>
        <p:spPr>
          <a:xfrm>
            <a:off x="4892040" y="3044952"/>
            <a:ext cx="3063240" cy="129844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5120640" y="3255264"/>
            <a:ext cx="26517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13A48"/>
                </a:solidFill>
                <a:latin typeface="Microsoft YaHei"/>
                <a:ea typeface="Microsoft YaHei"/>
              </a:rPr>
              <a:t>角色权限隔离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120640" y="3666744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学生、教师、实验室管理员、系统管理员分权访问</a:t>
            </a:r>
          </a:p>
        </p:txBody>
      </p:sp>
      <p:sp>
        <p:nvSpPr>
          <p:cNvPr id="17" name="Shape 17"/>
          <p:cNvSpPr/>
          <p:nvPr/>
        </p:nvSpPr>
        <p:spPr>
          <a:xfrm>
            <a:off x="8275320" y="3044952"/>
            <a:ext cx="3063240" cy="129844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8503920" y="3255264"/>
            <a:ext cx="26517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13A48"/>
                </a:solidFill>
                <a:latin typeface="Microsoft YaHei"/>
                <a:ea typeface="Microsoft YaHei"/>
              </a:rPr>
              <a:t>智能交互入口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503920" y="3666744"/>
            <a:ext cx="25146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通过 Agent 降低查询路径和预约操作成本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1520" y="5349240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D8E5DF"/>
                </a:solidFill>
                <a:latin typeface="Microsoft YaHei"/>
                <a:ea typeface="Microsoft YaHei"/>
              </a:rPr>
              <a:t>核心原则：业务规则集中在后端 Service 层，多端共享同一套判断结果。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用户角色与功能模块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621792" y="1097280"/>
            <a:ext cx="2395728" cy="1234440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768096" y="1298448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32A34"/>
                </a:solidFill>
                <a:latin typeface="Microsoft YaHei"/>
                <a:ea typeface="Microsoft YaHei"/>
              </a:rPr>
              <a:t>学生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68096" y="1664208"/>
            <a:ext cx="2103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student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68096" y="1938528"/>
            <a:ext cx="210312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627279"/>
                </a:solidFill>
                <a:latin typeface="Microsoft YaHei"/>
                <a:ea typeface="Microsoft YaHei"/>
              </a:rPr>
              <a:t>权限范围：仅自己</a:t>
            </a:r>
          </a:p>
        </p:txBody>
      </p:sp>
      <p:sp>
        <p:nvSpPr>
          <p:cNvPr id="9" name="Shape 9"/>
          <p:cNvSpPr/>
          <p:nvPr/>
        </p:nvSpPr>
        <p:spPr>
          <a:xfrm>
            <a:off x="3474720" y="1097280"/>
            <a:ext cx="2395728" cy="1234440"/>
          </a:xfrm>
          <a:prstGeom prst="roundRect">
            <a:avLst/>
          </a:prstGeom>
          <a:solidFill>
            <a:srgbClr val="F1F3EE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3621024" y="1298448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32A34"/>
                </a:solidFill>
                <a:latin typeface="Microsoft YaHei"/>
                <a:ea typeface="Microsoft YaHei"/>
              </a:rPr>
              <a:t>教师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21024" y="1664208"/>
            <a:ext cx="2103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teacher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21024" y="1938528"/>
            <a:ext cx="210312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627279"/>
                </a:solidFill>
                <a:latin typeface="Microsoft YaHei"/>
                <a:ea typeface="Microsoft YaHei"/>
              </a:rPr>
              <a:t>权限范围：仅自己</a:t>
            </a:r>
          </a:p>
        </p:txBody>
      </p:sp>
      <p:sp>
        <p:nvSpPr>
          <p:cNvPr id="13" name="Shape 13"/>
          <p:cNvSpPr/>
          <p:nvPr/>
        </p:nvSpPr>
        <p:spPr>
          <a:xfrm>
            <a:off x="6327648" y="1097280"/>
            <a:ext cx="2395728" cy="1234440"/>
          </a:xfrm>
          <a:prstGeom prst="roundRect">
            <a:avLst/>
          </a:prstGeom>
          <a:solidFill>
            <a:srgbClr val="F8EBCD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4" name="TextBox 14"/>
          <p:cNvSpPr txBox="1"/>
          <p:nvPr/>
        </p:nvSpPr>
        <p:spPr>
          <a:xfrm>
            <a:off x="6473952" y="1298448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32A34"/>
                </a:solidFill>
                <a:latin typeface="Microsoft YaHei"/>
                <a:ea typeface="Microsoft YaHei"/>
              </a:rPr>
              <a:t>实验室管理员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73952" y="1664208"/>
            <a:ext cx="2103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lab_admin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73952" y="1938528"/>
            <a:ext cx="210312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627279"/>
                </a:solidFill>
                <a:latin typeface="Microsoft YaHei"/>
                <a:ea typeface="Microsoft YaHei"/>
              </a:rPr>
              <a:t>权限范围：本校区</a:t>
            </a:r>
          </a:p>
        </p:txBody>
      </p:sp>
      <p:sp>
        <p:nvSpPr>
          <p:cNvPr id="17" name="Shape 17"/>
          <p:cNvSpPr/>
          <p:nvPr/>
        </p:nvSpPr>
        <p:spPr>
          <a:xfrm>
            <a:off x="9180576" y="1097280"/>
            <a:ext cx="2395728" cy="1234440"/>
          </a:xfrm>
          <a:prstGeom prst="roundRect">
            <a:avLst/>
          </a:prstGeom>
          <a:solidFill>
            <a:srgbClr val="E6EEF2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9326880" y="1298448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32A34"/>
                </a:solidFill>
                <a:latin typeface="Microsoft YaHei"/>
                <a:ea typeface="Microsoft YaHei"/>
              </a:rPr>
              <a:t>系统管理员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26880" y="1664208"/>
            <a:ext cx="2103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system_admin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326880" y="1938528"/>
            <a:ext cx="210312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627279"/>
                </a:solidFill>
                <a:latin typeface="Microsoft YaHei"/>
                <a:ea typeface="Microsoft YaHei"/>
              </a:rPr>
              <a:t>权限范围：全局</a:t>
            </a:r>
          </a:p>
        </p:txBody>
      </p:sp>
      <p:sp>
        <p:nvSpPr>
          <p:cNvPr id="21" name="Shape 21"/>
          <p:cNvSpPr/>
          <p:nvPr/>
        </p:nvSpPr>
        <p:spPr>
          <a:xfrm>
            <a:off x="749808" y="3127248"/>
            <a:ext cx="321868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749808" y="3127248"/>
            <a:ext cx="73152" cy="841248"/>
          </a:xfrm>
          <a:prstGeom prst="rect">
            <a:avLst/>
          </a:prstGeom>
          <a:solidFill>
            <a:srgbClr val="174E63"/>
          </a:solidFill>
          <a:ln w="12700">
            <a:solidFill>
              <a:srgbClr val="174E63"/>
            </a:solidFill>
          </a:ln>
        </p:spPr>
        <p:txBody>
          <a:bodyPr/>
          <a:lstStyle/>
          <a:p/>
        </p:txBody>
      </p:sp>
      <p:sp>
        <p:nvSpPr>
          <p:cNvPr id="23" name="TextBox 23"/>
          <p:cNvSpPr txBox="1"/>
          <p:nvPr/>
        </p:nvSpPr>
        <p:spPr>
          <a:xfrm>
            <a:off x="978407" y="3310128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认证与资料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8407" y="3739896"/>
            <a:ext cx="28072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登录鉴权、资料维护</a:t>
            </a:r>
          </a:p>
        </p:txBody>
      </p:sp>
      <p:sp>
        <p:nvSpPr>
          <p:cNvPr id="25" name="Shape 25"/>
          <p:cNvSpPr/>
          <p:nvPr/>
        </p:nvSpPr>
        <p:spPr>
          <a:xfrm>
            <a:off x="4471416" y="3127248"/>
            <a:ext cx="321868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4471416" y="3127248"/>
            <a:ext cx="73152" cy="841248"/>
          </a:xfrm>
          <a:prstGeom prst="rect">
            <a:avLst/>
          </a:prstGeom>
          <a:solidFill>
            <a:srgbClr val="7BA36D"/>
          </a:solidFill>
          <a:ln w="12700">
            <a:solidFill>
              <a:srgbClr val="7BA36D"/>
            </a:solidFill>
          </a:ln>
        </p:spPr>
        <p:txBody>
          <a:bodyPr/>
          <a:lstStyle/>
          <a:p/>
        </p:txBody>
      </p:sp>
      <p:sp>
        <p:nvSpPr>
          <p:cNvPr id="27" name="TextBox 27"/>
          <p:cNvSpPr txBox="1"/>
          <p:nvPr/>
        </p:nvSpPr>
        <p:spPr>
          <a:xfrm>
            <a:off x="4700016" y="3310128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资源管理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700016" y="3739896"/>
            <a:ext cx="28072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校区、实验室、设备</a:t>
            </a:r>
          </a:p>
        </p:txBody>
      </p:sp>
      <p:sp>
        <p:nvSpPr>
          <p:cNvPr id="29" name="Shape 29"/>
          <p:cNvSpPr/>
          <p:nvPr/>
        </p:nvSpPr>
        <p:spPr>
          <a:xfrm>
            <a:off x="8193024" y="3127248"/>
            <a:ext cx="321868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8193024" y="3127248"/>
            <a:ext cx="73152" cy="841248"/>
          </a:xfrm>
          <a:prstGeom prst="rect">
            <a:avLst/>
          </a:prstGeom>
          <a:solidFill>
            <a:srgbClr val="C28A3A"/>
          </a:solidFill>
          <a:ln w="12700">
            <a:solidFill>
              <a:srgbClr val="C28A3A"/>
            </a:solidFill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8421624" y="3310128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预约管理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421624" y="3739896"/>
            <a:ext cx="28072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提交、冲突检测、取消</a:t>
            </a:r>
          </a:p>
        </p:txBody>
      </p:sp>
      <p:sp>
        <p:nvSpPr>
          <p:cNvPr id="33" name="Shape 33"/>
          <p:cNvSpPr/>
          <p:nvPr/>
        </p:nvSpPr>
        <p:spPr>
          <a:xfrm>
            <a:off x="749808" y="4297680"/>
            <a:ext cx="321868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749808" y="4297680"/>
            <a:ext cx="73152" cy="841248"/>
          </a:xfrm>
          <a:prstGeom prst="rect">
            <a:avLst/>
          </a:prstGeom>
          <a:solidFill>
            <a:srgbClr val="174E63"/>
          </a:solidFill>
          <a:ln w="12700">
            <a:solidFill>
              <a:srgbClr val="174E63"/>
            </a:solidFill>
          </a:ln>
        </p:spPr>
        <p:txBody>
          <a:bodyPr/>
          <a:lstStyle/>
          <a:p/>
        </p:txBody>
      </p:sp>
      <p:sp>
        <p:nvSpPr>
          <p:cNvPr id="35" name="TextBox 35"/>
          <p:cNvSpPr txBox="1"/>
          <p:nvPr/>
        </p:nvSpPr>
        <p:spPr>
          <a:xfrm>
            <a:off x="978407" y="4480560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审批管理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78407" y="4910328"/>
            <a:ext cx="28072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通过/拒绝、审批意见</a:t>
            </a:r>
          </a:p>
        </p:txBody>
      </p:sp>
      <p:sp>
        <p:nvSpPr>
          <p:cNvPr id="37" name="Shape 37"/>
          <p:cNvSpPr/>
          <p:nvPr/>
        </p:nvSpPr>
        <p:spPr>
          <a:xfrm>
            <a:off x="4471416" y="4297680"/>
            <a:ext cx="321868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38" name="Shape 38"/>
          <p:cNvSpPr/>
          <p:nvPr/>
        </p:nvSpPr>
        <p:spPr>
          <a:xfrm>
            <a:off x="4471416" y="4297680"/>
            <a:ext cx="73152" cy="841248"/>
          </a:xfrm>
          <a:prstGeom prst="rect">
            <a:avLst/>
          </a:prstGeom>
          <a:solidFill>
            <a:srgbClr val="7BA36D"/>
          </a:solidFill>
          <a:ln w="12700">
            <a:solidFill>
              <a:srgbClr val="7BA36D"/>
            </a:solidFill>
          </a:ln>
        </p:spPr>
        <p:txBody>
          <a:bodyPr/>
          <a:lstStyle/>
          <a:p/>
        </p:txBody>
      </p:sp>
      <p:sp>
        <p:nvSpPr>
          <p:cNvPr id="39" name="TextBox 39"/>
          <p:cNvSpPr txBox="1"/>
          <p:nvPr/>
        </p:nvSpPr>
        <p:spPr>
          <a:xfrm>
            <a:off x="4700016" y="4480560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统计分析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700016" y="4910328"/>
            <a:ext cx="28072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总览、校区、利用率</a:t>
            </a:r>
          </a:p>
        </p:txBody>
      </p:sp>
      <p:sp>
        <p:nvSpPr>
          <p:cNvPr id="41" name="Shape 41"/>
          <p:cNvSpPr/>
          <p:nvPr/>
        </p:nvSpPr>
        <p:spPr>
          <a:xfrm>
            <a:off x="8193024" y="4297680"/>
            <a:ext cx="321868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42" name="Shape 42"/>
          <p:cNvSpPr/>
          <p:nvPr/>
        </p:nvSpPr>
        <p:spPr>
          <a:xfrm>
            <a:off x="8193024" y="4297680"/>
            <a:ext cx="73152" cy="841248"/>
          </a:xfrm>
          <a:prstGeom prst="rect">
            <a:avLst/>
          </a:prstGeom>
          <a:solidFill>
            <a:srgbClr val="C28A3A"/>
          </a:solidFill>
          <a:ln w="12700">
            <a:solidFill>
              <a:srgbClr val="C28A3A"/>
            </a:solidFill>
          </a:ln>
        </p:spPr>
        <p:txBody>
          <a:bodyPr/>
          <a:lstStyle/>
          <a:p/>
        </p:txBody>
      </p:sp>
      <p:sp>
        <p:nvSpPr>
          <p:cNvPr id="43" name="TextBox 43"/>
          <p:cNvSpPr txBox="1"/>
          <p:nvPr/>
        </p:nvSpPr>
        <p:spPr>
          <a:xfrm>
            <a:off x="8421624" y="4480560"/>
            <a:ext cx="280720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Agent 助手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421624" y="4910328"/>
            <a:ext cx="28072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查询、推荐、创建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系统总体架构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713232" y="1024128"/>
            <a:ext cx="10515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100" b="1">
                <a:solidFill>
                  <a:srgbClr val="174E63"/>
                </a:solidFill>
                <a:latin typeface="Consolas"/>
                <a:ea typeface="Consolas"/>
              </a:rPr>
              <a:t>ARCHITECTURE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713232" y="1316736"/>
            <a:ext cx="1325880" cy="1"/>
          </a:xfrm>
          <a:prstGeom prst="line">
            <a:avLst/>
          </a:prstGeom>
          <a:ln w="25400">
            <a:solidFill>
              <a:srgbClr val="174E63"/>
            </a:solidFill>
          </a:ln>
        </p:spPr>
      </p:cxnSp>
      <p:sp>
        <p:nvSpPr>
          <p:cNvPr id="7" name="Shape 7"/>
          <p:cNvSpPr/>
          <p:nvPr/>
        </p:nvSpPr>
        <p:spPr>
          <a:xfrm>
            <a:off x="841248" y="1719072"/>
            <a:ext cx="2240280" cy="2907792"/>
          </a:xfrm>
          <a:prstGeom prst="roundRect">
            <a:avLst/>
          </a:prstGeom>
          <a:solidFill>
            <a:srgbClr val="E2F0EA"/>
          </a:solidFill>
          <a:ln w="12700">
            <a:solidFill>
              <a:srgbClr val="C8D6D0"/>
            </a:solidFill>
          </a:ln>
        </p:spPr>
        <p:txBody>
          <a:bodyPr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1051560" y="205740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132A34"/>
                </a:solidFill>
                <a:latin typeface="Microsoft YaHei"/>
                <a:ea typeface="Microsoft YaHei"/>
              </a:rPr>
              <a:t>访问端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1252728" y="2542032"/>
            <a:ext cx="1417319" cy="1"/>
          </a:xfrm>
          <a:prstGeom prst="line">
            <a:avLst/>
          </a:prstGeom>
          <a:ln w="25400">
            <a:solidFill>
              <a:srgbClr val="174E63"/>
            </a:solidFill>
          </a:ln>
        </p:spPr>
      </p:cxnSp>
      <p:sp>
        <p:nvSpPr>
          <p:cNvPr id="10" name="TextBox 10"/>
          <p:cNvSpPr txBox="1"/>
          <p:nvPr/>
        </p:nvSpPr>
        <p:spPr>
          <a:xfrm>
            <a:off x="1097280" y="2907792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Web/H5 管理端</a:t>
            </a:r>
          </a:p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微信小程序端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172968" y="2944368"/>
            <a:ext cx="29260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2" name="Shape 12"/>
          <p:cNvSpPr/>
          <p:nvPr/>
        </p:nvSpPr>
        <p:spPr>
          <a:xfrm>
            <a:off x="3630168" y="1719072"/>
            <a:ext cx="2240280" cy="2907792"/>
          </a:xfrm>
          <a:prstGeom prst="roundRect">
            <a:avLst/>
          </a:prstGeom>
          <a:solidFill>
            <a:srgbClr val="F8EBCD"/>
          </a:solidFill>
          <a:ln w="12700">
            <a:solidFill>
              <a:srgbClr val="C8D6D0"/>
            </a:solidFill>
          </a:ln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3840480" y="205740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132A34"/>
                </a:solidFill>
                <a:latin typeface="Microsoft YaHei"/>
                <a:ea typeface="Microsoft YaHei"/>
              </a:rPr>
              <a:t>接口层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4041648" y="2542032"/>
            <a:ext cx="1417319" cy="1"/>
          </a:xfrm>
          <a:prstGeom prst="line">
            <a:avLst/>
          </a:prstGeom>
          <a:ln w="25400">
            <a:solidFill>
              <a:srgbClr val="C28A3A"/>
            </a:solidFill>
          </a:ln>
        </p:spPr>
      </p:cxnSp>
      <p:sp>
        <p:nvSpPr>
          <p:cNvPr id="15" name="TextBox 15"/>
          <p:cNvSpPr txBox="1"/>
          <p:nvPr/>
        </p:nvSpPr>
        <p:spPr>
          <a:xfrm>
            <a:off x="3886200" y="2907792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Flask Blueprints</a:t>
            </a:r>
          </a:p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RESTful API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61888" y="2944368"/>
            <a:ext cx="29260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Shape 17"/>
          <p:cNvSpPr/>
          <p:nvPr/>
        </p:nvSpPr>
        <p:spPr>
          <a:xfrm>
            <a:off x="6419088" y="1719072"/>
            <a:ext cx="2240280" cy="2907792"/>
          </a:xfrm>
          <a:prstGeom prst="roundRect">
            <a:avLst/>
          </a:prstGeom>
          <a:solidFill>
            <a:srgbClr val="E6EEF2"/>
          </a:solidFill>
          <a:ln w="12700">
            <a:solidFill>
              <a:srgbClr val="C8D6D0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6629400" y="205740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132A34"/>
                </a:solidFill>
                <a:latin typeface="Microsoft YaHei"/>
                <a:ea typeface="Microsoft YaHei"/>
              </a:rPr>
              <a:t>服务层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6830568" y="2542032"/>
            <a:ext cx="1417319" cy="1"/>
          </a:xfrm>
          <a:prstGeom prst="line">
            <a:avLst/>
          </a:prstGeom>
          <a:ln w="25400">
            <a:solidFill>
              <a:srgbClr val="2D6F8F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6675120" y="2907792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预约 / 审批 / 统计</a:t>
            </a:r>
          </a:p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Agent 工具执行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750808" y="2944368"/>
            <a:ext cx="29260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2" name="Shape 22"/>
          <p:cNvSpPr/>
          <p:nvPr/>
        </p:nvSpPr>
        <p:spPr>
          <a:xfrm>
            <a:off x="9208007" y="1719072"/>
            <a:ext cx="224028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6D0"/>
            </a:solidFill>
          </a:ln>
        </p:spPr>
        <p:txBody>
          <a:bodyPr/>
          <a:lstStyle/>
          <a:p/>
        </p:txBody>
      </p:sp>
      <p:sp>
        <p:nvSpPr>
          <p:cNvPr id="23" name="TextBox 23"/>
          <p:cNvSpPr txBox="1"/>
          <p:nvPr/>
        </p:nvSpPr>
        <p:spPr>
          <a:xfrm>
            <a:off x="9418319" y="2057400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800" b="1">
                <a:solidFill>
                  <a:srgbClr val="132A34"/>
                </a:solidFill>
                <a:latin typeface="Microsoft YaHei"/>
                <a:ea typeface="Microsoft YaHei"/>
              </a:rPr>
              <a:t>模型层</a:t>
            </a:r>
          </a:p>
        </p:txBody>
      </p:sp>
      <p:cxnSp>
        <p:nvCxnSpPr>
          <p:cNvPr id="24" name="Line 24"/>
          <p:cNvCxnSpPr/>
          <p:nvPr/>
        </p:nvCxnSpPr>
        <p:spPr>
          <a:xfrm>
            <a:off x="9619487" y="2542032"/>
            <a:ext cx="1417320" cy="1"/>
          </a:xfrm>
          <a:prstGeom prst="line">
            <a:avLst/>
          </a:prstGeom>
          <a:ln w="25400">
            <a:solidFill>
              <a:srgbClr val="7BA36D"/>
            </a:solidFill>
          </a:ln>
        </p:spPr>
      </p:cxnSp>
      <p:sp>
        <p:nvSpPr>
          <p:cNvPr id="25" name="TextBox 25"/>
          <p:cNvSpPr txBox="1"/>
          <p:nvPr/>
        </p:nvSpPr>
        <p:spPr>
          <a:xfrm>
            <a:off x="9464039" y="2907792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SQLAlchemy ORM</a:t>
            </a:r>
          </a:p>
          <a:p>
            <a:pPr algn="c" marL="0" marR="0" indent="0">
              <a:lnSpc>
                <a:spcPct val="110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MySQL / SQLite</a:t>
            </a:r>
          </a:p>
        </p:txBody>
      </p:sp>
      <p:sp>
        <p:nvSpPr>
          <p:cNvPr id="26" name="Shape 26"/>
          <p:cNvSpPr/>
          <p:nvPr/>
        </p:nvSpPr>
        <p:spPr>
          <a:xfrm>
            <a:off x="868680" y="5257800"/>
            <a:ext cx="10469880" cy="493776"/>
          </a:xfrm>
          <a:prstGeom prst="round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sp>
        <p:nvSpPr>
          <p:cNvPr id="27" name="TextBox 27"/>
          <p:cNvSpPr txBox="1"/>
          <p:nvPr/>
        </p:nvSpPr>
        <p:spPr>
          <a:xfrm>
            <a:off x="1051560" y="5431536"/>
            <a:ext cx="1005840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100" b="1">
                <a:solidFill>
                  <a:srgbClr val="F7F4EC"/>
                </a:solidFill>
                <a:latin typeface="Microsoft YaHei"/>
                <a:ea typeface="Microsoft YaHei"/>
              </a:rPr>
              <a:t>多端不重复实现核心业务规则，统一由后端服务层校验预约冲突、容量、开放时间和权限边界。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核心数据模型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777240" y="1417320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914400" y="1545336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User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1837944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用户 / 角色 / 校区</a:t>
            </a:r>
          </a:p>
        </p:txBody>
      </p:sp>
      <p:sp>
        <p:nvSpPr>
          <p:cNvPr id="8" name="Shape 8"/>
          <p:cNvSpPr/>
          <p:nvPr/>
        </p:nvSpPr>
        <p:spPr>
          <a:xfrm>
            <a:off x="3749039" y="1078992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886200" y="1207007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Campus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86200" y="1499616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校区资源</a:t>
            </a:r>
          </a:p>
        </p:txBody>
      </p:sp>
      <p:sp>
        <p:nvSpPr>
          <p:cNvPr id="11" name="Shape 11"/>
          <p:cNvSpPr/>
          <p:nvPr/>
        </p:nvSpPr>
        <p:spPr>
          <a:xfrm>
            <a:off x="6720840" y="1417320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6858000" y="1545336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Laboratory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858000" y="1837944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实验室 / 容量 / 开放时间</a:t>
            </a:r>
          </a:p>
        </p:txBody>
      </p:sp>
      <p:sp>
        <p:nvSpPr>
          <p:cNvPr id="14" name="Shape 14"/>
          <p:cNvSpPr/>
          <p:nvPr/>
        </p:nvSpPr>
        <p:spPr>
          <a:xfrm>
            <a:off x="9281160" y="2606040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9418320" y="2734056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Equipment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18320" y="3026664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设备状态</a:t>
            </a:r>
          </a:p>
        </p:txBody>
      </p:sp>
      <p:sp>
        <p:nvSpPr>
          <p:cNvPr id="17" name="Shape 17"/>
          <p:cNvSpPr/>
          <p:nvPr/>
        </p:nvSpPr>
        <p:spPr>
          <a:xfrm>
            <a:off x="3749039" y="3291840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3886200" y="3419856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Reservation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886200" y="3712464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预约时段 / 状态</a:t>
            </a:r>
          </a:p>
        </p:txBody>
      </p:sp>
      <p:sp>
        <p:nvSpPr>
          <p:cNvPr id="20" name="Shape 20"/>
          <p:cNvSpPr/>
          <p:nvPr/>
        </p:nvSpPr>
        <p:spPr>
          <a:xfrm>
            <a:off x="6720840" y="3291840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6858000" y="3419856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Approval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3712464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审批记录</a:t>
            </a:r>
          </a:p>
        </p:txBody>
      </p:sp>
      <p:sp>
        <p:nvSpPr>
          <p:cNvPr id="23" name="Shape 23"/>
          <p:cNvSpPr/>
          <p:nvPr/>
        </p:nvSpPr>
        <p:spPr>
          <a:xfrm>
            <a:off x="868680" y="4407408"/>
            <a:ext cx="2331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1005839" y="4535424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74E63"/>
                </a:solidFill>
                <a:latin typeface="Consolas"/>
                <a:ea typeface="Consolas"/>
              </a:rPr>
              <a:t>OperationLog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05839" y="4828032"/>
            <a:ext cx="20574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操作日志</a:t>
            </a:r>
          </a:p>
        </p:txBody>
      </p:sp>
      <p:cxnSp>
        <p:nvCxnSpPr>
          <p:cNvPr id="26" name="Line 26"/>
          <p:cNvCxnSpPr/>
          <p:nvPr/>
        </p:nvCxnSpPr>
        <p:spPr>
          <a:xfrm>
            <a:off x="3108960" y="1481328"/>
            <a:ext cx="640079" cy="301751"/>
          </a:xfrm>
          <a:prstGeom prst="line">
            <a:avLst/>
          </a:prstGeom>
          <a:ln w="12700">
            <a:solidFill>
              <a:srgbClr val="9FB1AB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080760" y="1481328"/>
            <a:ext cx="640079" cy="301751"/>
          </a:xfrm>
          <a:prstGeom prst="line">
            <a:avLst/>
          </a:prstGeom>
          <a:ln w="12700">
            <a:solidFill>
              <a:srgbClr val="9FB1AB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4919472" y="1828800"/>
            <a:ext cx="1" cy="1463040"/>
          </a:xfrm>
          <a:prstGeom prst="line">
            <a:avLst/>
          </a:prstGeom>
          <a:ln w="12700">
            <a:solidFill>
              <a:srgbClr val="9FB1AB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7909560" y="2148840"/>
            <a:ext cx="1" cy="1143000"/>
          </a:xfrm>
          <a:prstGeom prst="line">
            <a:avLst/>
          </a:prstGeom>
          <a:ln w="12700">
            <a:solidFill>
              <a:srgbClr val="9FB1AB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052560" y="2971800"/>
            <a:ext cx="228600" cy="1"/>
          </a:xfrm>
          <a:prstGeom prst="line">
            <a:avLst/>
          </a:prstGeom>
          <a:ln w="12700">
            <a:solidFill>
              <a:srgbClr val="9FB1AB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3200400" y="3657600"/>
            <a:ext cx="548639" cy="1078991"/>
          </a:xfrm>
          <a:prstGeom prst="line">
            <a:avLst/>
          </a:prstGeom>
          <a:ln w="12700">
            <a:solidFill>
              <a:srgbClr val="9FB1AB"/>
            </a:solidFill>
          </a:ln>
        </p:spPr>
      </p:cxnSp>
      <p:sp>
        <p:nvSpPr>
          <p:cNvPr id="32" name="TextBox 32"/>
          <p:cNvSpPr txBox="1"/>
          <p:nvPr/>
        </p:nvSpPr>
        <p:spPr>
          <a:xfrm>
            <a:off x="786384" y="5650992"/>
            <a:ext cx="106984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32A34"/>
                </a:solidFill>
                <a:latin typeface="Microsoft YaHei"/>
                <a:ea typeface="Microsoft YaHei"/>
              </a:rPr>
              <a:t>模型主线：以“校区 - 实验室 - 预约”为核心，叠加审批记录和操作日志，支撑跨校区查询、权限隔离与审计追踪。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预约业务流程与规则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594360" y="1417320"/>
            <a:ext cx="1892807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6" name="Shape 6"/>
          <p:cNvSpPr/>
          <p:nvPr/>
        </p:nvSpPr>
        <p:spPr>
          <a:xfrm>
            <a:off x="777240" y="1645920"/>
            <a:ext cx="438912" cy="438912"/>
          </a:xfrm>
          <a:prstGeom prst="roundRect">
            <a:avLst/>
          </a:prstGeom>
          <a:solidFill>
            <a:srgbClr val="174E63"/>
          </a:solidFill>
          <a:ln w="12700">
            <a:solidFill>
              <a:srgbClr val="174E63"/>
            </a:solidFill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777240" y="175564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8952" y="233172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提交申请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5528" y="2816352"/>
            <a:ext cx="1481328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4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校区、实验室、日期、时间、人数、用途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69464" y="2560320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6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Shape 11"/>
          <p:cNvSpPr/>
          <p:nvPr/>
        </p:nvSpPr>
        <p:spPr>
          <a:xfrm>
            <a:off x="2916936" y="1417320"/>
            <a:ext cx="1892807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3099816" y="1645920"/>
            <a:ext cx="438912" cy="438912"/>
          </a:xfrm>
          <a:prstGeom prst="roundRect">
            <a:avLst/>
          </a:prstGeom>
          <a:solidFill>
            <a:srgbClr val="2D6F8F"/>
          </a:solidFill>
          <a:ln w="12700">
            <a:solidFill>
              <a:srgbClr val="2D6F8F"/>
            </a:solidFill>
          </a:ln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3099816" y="175564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081528" y="233172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基础校验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118104" y="2816352"/>
            <a:ext cx="1481328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4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必填、实验室状态、校区一致性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892040" y="2560320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6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Shape 17"/>
          <p:cNvSpPr/>
          <p:nvPr/>
        </p:nvSpPr>
        <p:spPr>
          <a:xfrm>
            <a:off x="5239512" y="1417320"/>
            <a:ext cx="1892807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422392" y="1645920"/>
            <a:ext cx="438912" cy="438912"/>
          </a:xfrm>
          <a:prstGeom prst="roundRect">
            <a:avLst/>
          </a:prstGeom>
          <a:solidFill>
            <a:srgbClr val="C28A3A"/>
          </a:solidFill>
          <a:ln w="12700">
            <a:solidFill>
              <a:srgbClr val="C28A3A"/>
            </a:solidFill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5422392" y="175564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04104" y="233172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时段校验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40680" y="2816352"/>
            <a:ext cx="1481328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4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开始早于结束，并处于开放时间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214616" y="2560320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6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3" name="Shape 23"/>
          <p:cNvSpPr/>
          <p:nvPr/>
        </p:nvSpPr>
        <p:spPr>
          <a:xfrm>
            <a:off x="7562088" y="1417320"/>
            <a:ext cx="1892807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4" name="Shape 24"/>
          <p:cNvSpPr/>
          <p:nvPr/>
        </p:nvSpPr>
        <p:spPr>
          <a:xfrm>
            <a:off x="7744967" y="1645920"/>
            <a:ext cx="438912" cy="438912"/>
          </a:xfrm>
          <a:prstGeom prst="roundRect">
            <a:avLst/>
          </a:prstGeom>
          <a:solidFill>
            <a:srgbClr val="B75F32"/>
          </a:solidFill>
          <a:ln w="12700">
            <a:solidFill>
              <a:srgbClr val="B75F32"/>
            </a:solidFill>
          </a:ln>
        </p:spPr>
        <p:txBody>
          <a:bodyPr/>
          <a:lstStyle/>
          <a:p/>
        </p:txBody>
      </p:sp>
      <p:sp>
        <p:nvSpPr>
          <p:cNvPr id="25" name="TextBox 25"/>
          <p:cNvSpPr txBox="1"/>
          <p:nvPr/>
        </p:nvSpPr>
        <p:spPr>
          <a:xfrm>
            <a:off x="7744967" y="175564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726679" y="233172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容量与冲突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763256" y="2816352"/>
            <a:ext cx="1481328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4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人数不超容量，不与有效预约重叠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537192" y="2560320"/>
            <a:ext cx="219456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6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9" name="Shape 29"/>
          <p:cNvSpPr/>
          <p:nvPr/>
        </p:nvSpPr>
        <p:spPr>
          <a:xfrm>
            <a:off x="9884664" y="1417320"/>
            <a:ext cx="1892807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10067544" y="1645920"/>
            <a:ext cx="438912" cy="438912"/>
          </a:xfrm>
          <a:prstGeom prst="roundRect">
            <a:avLst/>
          </a:prstGeom>
          <a:solidFill>
            <a:srgbClr val="7BA36D"/>
          </a:solidFill>
          <a:ln w="12700">
            <a:solidFill>
              <a:srgbClr val="7BA36D"/>
            </a:solidFill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10067544" y="175564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FFF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049256" y="233172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审批流转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085832" y="2816352"/>
            <a:ext cx="1481328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4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学生/教师待审批，管理员可自动通过</a:t>
            </a:r>
          </a:p>
        </p:txBody>
      </p:sp>
      <p:sp>
        <p:nvSpPr>
          <p:cNvPr id="34" name="Shape 34"/>
          <p:cNvSpPr/>
          <p:nvPr/>
        </p:nvSpPr>
        <p:spPr>
          <a:xfrm>
            <a:off x="877824" y="4709160"/>
            <a:ext cx="10405872" cy="804672"/>
          </a:xfrm>
          <a:prstGeom prst="round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sp>
        <p:nvSpPr>
          <p:cNvPr id="35" name="TextBox 35"/>
          <p:cNvSpPr txBox="1"/>
          <p:nvPr/>
        </p:nvSpPr>
        <p:spPr>
          <a:xfrm>
            <a:off x="1115568" y="4983480"/>
            <a:ext cx="99303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7F4EC"/>
                </a:solidFill>
                <a:latin typeface="Microsoft YaHei"/>
                <a:ea typeface="Microsoft YaHei"/>
              </a:rPr>
              <a:t>答辩强调：冲突检测、开放时间、容量限制、权限边界都在服务层裁决，Agent 与前端不能绕过规则。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C9DAD2"/>
                </a:solidFill>
                <a:latin typeface="Consolas"/>
                <a:ea typeface="Consolas"/>
              </a:rPr>
              <a:t>07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F7F4EC"/>
                </a:solidFill>
                <a:latin typeface="Microsoft YaHei"/>
                <a:ea typeface="Microsoft YaHei"/>
              </a:rPr>
              <a:t>权限与安全控制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6C8B83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749808" y="1353312"/>
            <a:ext cx="3246120" cy="3182112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6" name="Shape 6"/>
          <p:cNvSpPr/>
          <p:nvPr/>
        </p:nvSpPr>
        <p:spPr>
          <a:xfrm>
            <a:off x="749808" y="1353312"/>
            <a:ext cx="3246120" cy="91440"/>
          </a:xfrm>
          <a:prstGeom prst="rect">
            <a:avLst/>
          </a:prstGeom>
          <a:solidFill>
            <a:srgbClr val="7BA36D"/>
          </a:solidFill>
          <a:ln w="12700">
            <a:solidFill>
              <a:srgbClr val="7BA36D"/>
            </a:solidFill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978407" y="1737360"/>
            <a:ext cx="276148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113A48"/>
                </a:solidFill>
                <a:latin typeface="Microsoft YaHei"/>
                <a:ea typeface="Microsoft YaHei"/>
              </a:rPr>
              <a:t>JWT 登录鉴权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2415" y="2423160"/>
            <a:ext cx="2615184" cy="8412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6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登录后签发 token，敏感接口统一校验身份，适配前后端分离的无状态认证。</a:t>
            </a:r>
          </a:p>
        </p:txBody>
      </p:sp>
      <p:sp>
        <p:nvSpPr>
          <p:cNvPr id="9" name="Shape 9"/>
          <p:cNvSpPr/>
          <p:nvPr/>
        </p:nvSpPr>
        <p:spPr>
          <a:xfrm>
            <a:off x="4544568" y="1353312"/>
            <a:ext cx="3246120" cy="3182112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4544568" y="1353312"/>
            <a:ext cx="3246120" cy="91440"/>
          </a:xfrm>
          <a:prstGeom prst="rect">
            <a:avLst/>
          </a:prstGeom>
          <a:solidFill>
            <a:srgbClr val="C28A3A"/>
          </a:solidFill>
          <a:ln w="12700">
            <a:solidFill>
              <a:srgbClr val="C28A3A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4773168" y="1737360"/>
            <a:ext cx="276148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113A48"/>
                </a:solidFill>
                <a:latin typeface="Microsoft YaHei"/>
                <a:ea typeface="Microsoft YaHei"/>
              </a:rPr>
              <a:t>RBAC 角色权限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837176" y="2423160"/>
            <a:ext cx="2615184" cy="8412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6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按 student、teacher、lab_admin、system_admin 分配功能入口和接口权限。</a:t>
            </a:r>
          </a:p>
        </p:txBody>
      </p:sp>
      <p:sp>
        <p:nvSpPr>
          <p:cNvPr id="13" name="Shape 13"/>
          <p:cNvSpPr/>
          <p:nvPr/>
        </p:nvSpPr>
        <p:spPr>
          <a:xfrm>
            <a:off x="8339328" y="1353312"/>
            <a:ext cx="3246120" cy="3182112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8339328" y="1353312"/>
            <a:ext cx="3246120" cy="91440"/>
          </a:xfrm>
          <a:prstGeom prst="rect">
            <a:avLst/>
          </a:prstGeom>
          <a:solidFill>
            <a:srgbClr val="2D6F8F"/>
          </a:solidFill>
          <a:ln w="12700">
            <a:solidFill>
              <a:srgbClr val="2D6F8F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8567928" y="1737360"/>
            <a:ext cx="276148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113A48"/>
                </a:solidFill>
                <a:latin typeface="Microsoft YaHei"/>
                <a:ea typeface="Microsoft YaHei"/>
              </a:rPr>
              <a:t>校区数据边界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631936" y="2423160"/>
            <a:ext cx="2615184" cy="8412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26000"/>
              </a:lnSpc>
            </a:pPr>
            <a:r>
              <a:rPr lang="zh-CN" sz="1200">
                <a:solidFill>
                  <a:srgbClr val="627279"/>
                </a:solidFill>
                <a:latin typeface="Microsoft YaHei"/>
                <a:ea typeface="Microsoft YaHei"/>
              </a:rPr>
              <a:t>实验室管理员只能管理本校区实验室、设备、预约和统计，系统管理员维护全局。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8680" y="5349240"/>
            <a:ext cx="10469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模型负责理解和规划，系统负责校验和执行：智能能力被纳入权限边界之内。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08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多端协同访问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731520" y="1170432"/>
            <a:ext cx="5120640" cy="3310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1005840" y="1627632"/>
            <a:ext cx="44805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000" b="1">
                <a:solidFill>
                  <a:srgbClr val="132A34"/>
                </a:solidFill>
                <a:latin typeface="Microsoft YaHei"/>
                <a:ea typeface="Microsoft YaHei"/>
              </a:rPr>
              <a:t>Web / H5 管理端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5840" y="2194560"/>
            <a:ext cx="431596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4000"/>
              </a:lnSpc>
            </a:pPr>
            <a:r>
              <a:rPr lang="zh-CN" sz="1400">
                <a:solidFill>
                  <a:srgbClr val="627279"/>
                </a:solidFill>
                <a:latin typeface="Microsoft YaHei"/>
                <a:ea typeface="Microsoft YaHei"/>
              </a:rPr>
              <a:t>面向系统管理员和实验室管理员，用于用户维护、校区/实验室/设备管理、审批处理、统计分析。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1005840" y="3703320"/>
            <a:ext cx="4069079" cy="1"/>
          </a:xfrm>
          <a:prstGeom prst="line">
            <a:avLst/>
          </a:prstGeom>
          <a:ln w="25400">
            <a:solidFill>
              <a:srgbClr val="174E63"/>
            </a:solidFill>
          </a:ln>
        </p:spPr>
      </p:cxnSp>
      <p:sp>
        <p:nvSpPr>
          <p:cNvPr id="9" name="TextBox 9"/>
          <p:cNvSpPr txBox="1"/>
          <p:nvPr/>
        </p:nvSpPr>
        <p:spPr>
          <a:xfrm>
            <a:off x="1005840" y="3913632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 b="1">
                <a:solidFill>
                  <a:srgbClr val="174E63"/>
                </a:solidFill>
                <a:latin typeface="Microsoft YaHei"/>
                <a:ea typeface="Microsoft YaHei"/>
              </a:rPr>
              <a:t>高频管理任务集中处理，适合桌面端信息密度。</a:t>
            </a:r>
          </a:p>
        </p:txBody>
      </p:sp>
      <p:sp>
        <p:nvSpPr>
          <p:cNvPr id="10" name="Shape 10"/>
          <p:cNvSpPr/>
          <p:nvPr/>
        </p:nvSpPr>
        <p:spPr>
          <a:xfrm>
            <a:off x="6345936" y="1170432"/>
            <a:ext cx="5120640" cy="3310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6620256" y="1627632"/>
            <a:ext cx="44805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000" b="1">
                <a:solidFill>
                  <a:srgbClr val="132A34"/>
                </a:solidFill>
                <a:latin typeface="Microsoft YaHei"/>
                <a:ea typeface="Microsoft YaHei"/>
              </a:rPr>
              <a:t>微信小程序端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20256" y="2194560"/>
            <a:ext cx="431596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4000"/>
              </a:lnSpc>
            </a:pPr>
            <a:r>
              <a:rPr lang="zh-CN" sz="1400">
                <a:solidFill>
                  <a:srgbClr val="627279"/>
                </a:solidFill>
                <a:latin typeface="Microsoft YaHei"/>
                <a:ea typeface="Microsoft YaHei"/>
              </a:rPr>
              <a:t>面向学生和教师，用于浏览校区、查询实验室、提交预约、查看个人预约、使用 Agent 助手。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6620256" y="3703320"/>
            <a:ext cx="4059935" cy="1"/>
          </a:xfrm>
          <a:prstGeom prst="line">
            <a:avLst/>
          </a:prstGeom>
          <a:ln w="25400">
            <a:solidFill>
              <a:srgbClr val="C28A3A"/>
            </a:solidFill>
          </a:ln>
        </p:spPr>
      </p:cxnSp>
      <p:sp>
        <p:nvSpPr>
          <p:cNvPr id="14" name="TextBox 14"/>
          <p:cNvSpPr txBox="1"/>
          <p:nvPr/>
        </p:nvSpPr>
        <p:spPr>
          <a:xfrm>
            <a:off x="6620256" y="3913632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 b="1">
                <a:solidFill>
                  <a:srgbClr val="C28A3A"/>
                </a:solidFill>
                <a:latin typeface="Microsoft YaHei"/>
                <a:ea typeface="Microsoft YaHei"/>
              </a:rPr>
              <a:t>轻量查询与预约入口更适合移动场景。</a:t>
            </a:r>
          </a:p>
        </p:txBody>
      </p:sp>
      <p:sp>
        <p:nvSpPr>
          <p:cNvPr id="15" name="Shape 15"/>
          <p:cNvSpPr/>
          <p:nvPr/>
        </p:nvSpPr>
        <p:spPr>
          <a:xfrm>
            <a:off x="914400" y="5257800"/>
            <a:ext cx="10332720" cy="420624"/>
          </a:xfrm>
          <a:prstGeom prst="roundRect">
            <a:avLst/>
          </a:prstGeom>
          <a:solidFill>
            <a:srgbClr val="EEF3EE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1143000" y="5413248"/>
            <a:ext cx="9875520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100" b="1">
                <a:solidFill>
                  <a:srgbClr val="113A48"/>
                </a:solidFill>
                <a:latin typeface="Microsoft YaHei"/>
                <a:ea typeface="Microsoft YaHei"/>
              </a:rPr>
              <a:t>两端复用统一 API，前端只承担展示与交互，后端保证业务一致性。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09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界面与资源展示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pic>
        <p:nvPicPr>
          <p:cNvPr id="5" name="campus-0"/>
          <p:cNvPicPr/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2423160" cy="1389888"/>
          </a:xfrm>
          <a:prstGeom prst="rect">
            <a:avLst/>
          </a:prstGeom>
        </p:spPr>
      </p:pic>
      <p:sp>
        <p:nvSpPr>
          <p:cNvPr id="6" name="Shape 6"/>
          <p:cNvSpPr/>
          <p:nvPr/>
        </p:nvSpPr>
        <p:spPr>
          <a:xfrm>
            <a:off x="685800" y="1234440"/>
            <a:ext cx="2423160" cy="1389888"/>
          </a:xfrm>
          <a:prstGeom prst="rect">
            <a:avLst/>
          </a:prstGeom>
          <a:solidFill>
            <a:srgbClr val="132A34">
              <a:alpha val="18000"/>
            </a:srgbClr>
          </a:solidFill>
          <a:ln w="12700">
            <a:solidFill>
              <a:srgbClr val="132A34"/>
            </a:solidFill>
          </a:ln>
        </p:spPr>
        <p:txBody>
          <a:bodyPr/>
          <a:lstStyle/>
          <a:p/>
        </p:txBody>
      </p:sp>
      <p:pic>
        <p:nvPicPr>
          <p:cNvPr id="7" name="campus-1"/>
          <p:cNvPicPr/>
          <p:nvPr/>
        </p:nvPicPr>
        <p:blipFill>
          <a:blip r:embed="rId3"/>
          <a:stretch>
            <a:fillRect/>
          </a:stretch>
        </p:blipFill>
        <p:spPr>
          <a:xfrm>
            <a:off x="3566160" y="1234440"/>
            <a:ext cx="2423160" cy="1389888"/>
          </a:xfrm>
          <a:prstGeom prst="rect">
            <a:avLst/>
          </a:prstGeom>
        </p:spPr>
      </p:pic>
      <p:sp>
        <p:nvSpPr>
          <p:cNvPr id="8" name="Shape 8"/>
          <p:cNvSpPr/>
          <p:nvPr/>
        </p:nvSpPr>
        <p:spPr>
          <a:xfrm>
            <a:off x="3566160" y="1234440"/>
            <a:ext cx="2423160" cy="1389888"/>
          </a:xfrm>
          <a:prstGeom prst="rect">
            <a:avLst/>
          </a:prstGeom>
          <a:solidFill>
            <a:srgbClr val="132A34">
              <a:alpha val="18000"/>
            </a:srgbClr>
          </a:solidFill>
          <a:ln w="12700">
            <a:solidFill>
              <a:srgbClr val="132A34"/>
            </a:solidFill>
          </a:ln>
        </p:spPr>
        <p:txBody>
          <a:bodyPr/>
          <a:lstStyle/>
          <a:p/>
        </p:txBody>
      </p:sp>
      <p:pic>
        <p:nvPicPr>
          <p:cNvPr id="9" name="campus-2"/>
          <p:cNvPicPr/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2423160" cy="1389888"/>
          </a:xfrm>
          <a:prstGeom prst="rect">
            <a:avLst/>
          </a:prstGeom>
        </p:spPr>
      </p:pic>
      <p:sp>
        <p:nvSpPr>
          <p:cNvPr id="10" name="Shape 10"/>
          <p:cNvSpPr/>
          <p:nvPr/>
        </p:nvSpPr>
        <p:spPr>
          <a:xfrm>
            <a:off x="6446520" y="1234440"/>
            <a:ext cx="2423160" cy="1389888"/>
          </a:xfrm>
          <a:prstGeom prst="rect">
            <a:avLst/>
          </a:prstGeom>
          <a:solidFill>
            <a:srgbClr val="132A34">
              <a:alpha val="18000"/>
            </a:srgbClr>
          </a:solidFill>
          <a:ln w="12700">
            <a:solidFill>
              <a:srgbClr val="132A34"/>
            </a:solidFill>
          </a:ln>
        </p:spPr>
        <p:txBody>
          <a:bodyPr/>
          <a:lstStyle/>
          <a:p/>
        </p:txBody>
      </p:sp>
      <p:pic>
        <p:nvPicPr>
          <p:cNvPr id="11" name="campus-3"/>
          <p:cNvPicPr/>
          <p:nvPr/>
        </p:nvPicPr>
        <p:blipFill>
          <a:blip r:embed="rId5"/>
          <a:stretch>
            <a:fillRect/>
          </a:stretch>
        </p:blipFill>
        <p:spPr>
          <a:xfrm>
            <a:off x="9326880" y="1234440"/>
            <a:ext cx="2423160" cy="1389888"/>
          </a:xfrm>
          <a:prstGeom prst="rect">
            <a:avLst/>
          </a:prstGeom>
        </p:spPr>
      </p:pic>
      <p:sp>
        <p:nvSpPr>
          <p:cNvPr id="12" name="Shape 12"/>
          <p:cNvSpPr/>
          <p:nvPr/>
        </p:nvSpPr>
        <p:spPr>
          <a:xfrm>
            <a:off x="9326880" y="1234440"/>
            <a:ext cx="2423160" cy="1389888"/>
          </a:xfrm>
          <a:prstGeom prst="rect">
            <a:avLst/>
          </a:prstGeom>
          <a:solidFill>
            <a:srgbClr val="132A34">
              <a:alpha val="18000"/>
            </a:srgbClr>
          </a:solidFill>
          <a:ln w="12700">
            <a:solidFill>
              <a:srgbClr val="132A34"/>
            </a:solidFill>
          </a:ln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749808" y="3154680"/>
            <a:ext cx="4297680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800" b="1">
                <a:solidFill>
                  <a:srgbClr val="132A34"/>
                </a:solidFill>
                <a:latin typeface="Microsoft YaHei"/>
                <a:ea typeface="Microsoft YaHei"/>
              </a:rPr>
              <a:t>系统将校区、实验室、设备和预约记录统一组织，用户可按校区浏览资源，管理员可按校区维护数据。</a:t>
            </a:r>
          </a:p>
        </p:txBody>
      </p:sp>
      <p:sp>
        <p:nvSpPr>
          <p:cNvPr id="14" name="Shape 14"/>
          <p:cNvSpPr/>
          <p:nvPr/>
        </p:nvSpPr>
        <p:spPr>
          <a:xfrm>
            <a:off x="5559552" y="3054096"/>
            <a:ext cx="239572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5760720" y="3218688"/>
            <a:ext cx="658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174E63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92240" y="3310128"/>
            <a:ext cx="128016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 b="1">
                <a:solidFill>
                  <a:srgbClr val="627279"/>
                </a:solidFill>
                <a:latin typeface="Microsoft YaHei"/>
                <a:ea typeface="Microsoft YaHei"/>
              </a:rPr>
              <a:t>类用户角色</a:t>
            </a:r>
          </a:p>
        </p:txBody>
      </p:sp>
      <p:sp>
        <p:nvSpPr>
          <p:cNvPr id="17" name="Shape 17"/>
          <p:cNvSpPr/>
          <p:nvPr/>
        </p:nvSpPr>
        <p:spPr>
          <a:xfrm>
            <a:off x="8439912" y="3054096"/>
            <a:ext cx="239572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8641080" y="3218688"/>
            <a:ext cx="658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C28A3A"/>
                </a:solidFill>
                <a:latin typeface="Consolas"/>
                <a:ea typeface="Consolas"/>
              </a:rPr>
              <a:t>8+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372600" y="3310128"/>
            <a:ext cx="128016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 b="1">
                <a:solidFill>
                  <a:srgbClr val="627279"/>
                </a:solidFill>
                <a:latin typeface="Microsoft YaHei"/>
                <a:ea typeface="Microsoft YaHei"/>
              </a:rPr>
              <a:t>核心业务模块</a:t>
            </a:r>
          </a:p>
        </p:txBody>
      </p:sp>
      <p:sp>
        <p:nvSpPr>
          <p:cNvPr id="20" name="Shape 20"/>
          <p:cNvSpPr/>
          <p:nvPr/>
        </p:nvSpPr>
        <p:spPr>
          <a:xfrm>
            <a:off x="5559552" y="4133087"/>
            <a:ext cx="239572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5760720" y="4297679"/>
            <a:ext cx="658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2D6F8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92240" y="4389120"/>
            <a:ext cx="128016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 b="1">
                <a:solidFill>
                  <a:srgbClr val="627279"/>
                </a:solidFill>
                <a:latin typeface="Microsoft YaHei"/>
                <a:ea typeface="Microsoft YaHei"/>
              </a:rPr>
              <a:t>访问终端</a:t>
            </a:r>
          </a:p>
        </p:txBody>
      </p:sp>
      <p:sp>
        <p:nvSpPr>
          <p:cNvPr id="23" name="Shape 23"/>
          <p:cNvSpPr/>
          <p:nvPr/>
        </p:nvSpPr>
        <p:spPr>
          <a:xfrm>
            <a:off x="8439912" y="4133087"/>
            <a:ext cx="239572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641080" y="4297679"/>
            <a:ext cx="658368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000" b="1">
                <a:solidFill>
                  <a:srgbClr val="7BA36D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72600" y="4389120"/>
            <a:ext cx="128016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 b="1">
                <a:solidFill>
                  <a:srgbClr val="627279"/>
                </a:solidFill>
                <a:latin typeface="Microsoft YaHei"/>
                <a:ea typeface="Microsoft YaHei"/>
              </a:rPr>
              <a:t>统一后端 API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9808" y="5376672"/>
            <a:ext cx="106070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113A48"/>
                </a:solidFill>
                <a:latin typeface="Microsoft YaHei"/>
                <a:ea typeface="Microsoft YaHei"/>
              </a:rPr>
              <a:t>展示重点不只是页面数量，而是多端共用同一套后端规则，减少系统维护和数据不一致风险。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10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Agent 智能助手设计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713232" y="1060704"/>
            <a:ext cx="448056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300" b="1">
                <a:solidFill>
                  <a:srgbClr val="132A34"/>
                </a:solidFill>
                <a:latin typeface="Microsoft YaHei"/>
                <a:ea typeface="Microsoft YaHei"/>
              </a:rPr>
              <a:t>Agent 不是直接操作数据库，而是自然语言入口和任务规划器。</a:t>
            </a:r>
          </a:p>
        </p:txBody>
      </p:sp>
      <p:sp>
        <p:nvSpPr>
          <p:cNvPr id="6" name="Shape 6"/>
          <p:cNvSpPr/>
          <p:nvPr/>
        </p:nvSpPr>
        <p:spPr>
          <a:xfrm>
            <a:off x="822960" y="2331720"/>
            <a:ext cx="2331720" cy="135331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987552" y="255117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规则抽取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87552" y="2990087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日期、时间、人数、用途、校区、实验室偏好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55264" y="286207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" name="Shape 10"/>
          <p:cNvSpPr/>
          <p:nvPr/>
        </p:nvSpPr>
        <p:spPr>
          <a:xfrm>
            <a:off x="3639312" y="2331720"/>
            <a:ext cx="2331720" cy="1353312"/>
          </a:xfrm>
          <a:prstGeom prst="roundRect">
            <a:avLst/>
          </a:prstGeom>
          <a:solidFill>
            <a:srgbClr val="F8EBCD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3803904" y="255117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DeepSeek 规划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03904" y="2990087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根据上下文选择下一步工具与参数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71616" y="286207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4" name="Shape 14"/>
          <p:cNvSpPr/>
          <p:nvPr/>
        </p:nvSpPr>
        <p:spPr>
          <a:xfrm>
            <a:off x="6455664" y="2331720"/>
            <a:ext cx="2331720" cy="1353312"/>
          </a:xfrm>
          <a:prstGeom prst="roundRect">
            <a:avLst/>
          </a:prstGeom>
          <a:solidFill>
            <a:srgbClr val="E6EEF2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6620256" y="255117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工具执行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620256" y="2990087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查询排期、推荐实验室、检查可用性、创建预约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87968" y="2862072"/>
            <a:ext cx="25603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9272016" y="2331720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9436608" y="255117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400" b="1">
                <a:solidFill>
                  <a:srgbClr val="132A34"/>
                </a:solidFill>
                <a:latin typeface="Microsoft YaHei"/>
                <a:ea typeface="Microsoft YaHei"/>
              </a:rPr>
              <a:t>服务层校验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36608" y="2990087"/>
            <a:ext cx="1965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>
                <a:solidFill>
                  <a:srgbClr val="627279"/>
                </a:solidFill>
                <a:latin typeface="Microsoft YaHei"/>
                <a:ea typeface="Microsoft YaHei"/>
              </a:rPr>
              <a:t>冲突、容量、开放时间、权限边界最终裁决</a:t>
            </a:r>
          </a:p>
        </p:txBody>
      </p:sp>
      <p:sp>
        <p:nvSpPr>
          <p:cNvPr id="21" name="Shape 21"/>
          <p:cNvSpPr/>
          <p:nvPr/>
        </p:nvSpPr>
        <p:spPr>
          <a:xfrm>
            <a:off x="877824" y="4892040"/>
            <a:ext cx="10332720" cy="566928"/>
          </a:xfrm>
          <a:prstGeom prst="round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sp>
        <p:nvSpPr>
          <p:cNvPr id="22" name="TextBox 22"/>
          <p:cNvSpPr txBox="1"/>
          <p:nvPr/>
        </p:nvSpPr>
        <p:spPr>
          <a:xfrm>
            <a:off x="1078992" y="5093208"/>
            <a:ext cx="992124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F7F4EC"/>
                </a:solidFill>
                <a:latin typeface="Microsoft YaHei"/>
                <a:ea typeface="Microsoft YaHei"/>
              </a:rPr>
              <a:t>价值：保留自然语言交互体验，同时保证业务系统可控、可审计、可降级。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11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Agent 工具体系与预约链路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713232" y="1188720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786384" y="1335024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query_labs</a:t>
            </a:r>
          </a:p>
        </p:txBody>
      </p:sp>
      <p:sp>
        <p:nvSpPr>
          <p:cNvPr id="7" name="Shape 7"/>
          <p:cNvSpPr/>
          <p:nvPr/>
        </p:nvSpPr>
        <p:spPr>
          <a:xfrm>
            <a:off x="3566160" y="1188720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3639312" y="1335024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query_schedule</a:t>
            </a:r>
          </a:p>
        </p:txBody>
      </p:sp>
      <p:sp>
        <p:nvSpPr>
          <p:cNvPr id="9" name="Shape 9"/>
          <p:cNvSpPr/>
          <p:nvPr/>
        </p:nvSpPr>
        <p:spPr>
          <a:xfrm>
            <a:off x="6419088" y="1188720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492240" y="1335024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check_availability</a:t>
            </a:r>
          </a:p>
        </p:txBody>
      </p:sp>
      <p:sp>
        <p:nvSpPr>
          <p:cNvPr id="11" name="Shape 11"/>
          <p:cNvSpPr/>
          <p:nvPr/>
        </p:nvSpPr>
        <p:spPr>
          <a:xfrm>
            <a:off x="9272015" y="1188720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9345167" y="1335024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recommend_lab</a:t>
            </a:r>
          </a:p>
        </p:txBody>
      </p:sp>
      <p:sp>
        <p:nvSpPr>
          <p:cNvPr id="13" name="Shape 13"/>
          <p:cNvSpPr/>
          <p:nvPr/>
        </p:nvSpPr>
        <p:spPr>
          <a:xfrm>
            <a:off x="713232" y="1865376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4" name="TextBox 14"/>
          <p:cNvSpPr txBox="1"/>
          <p:nvPr/>
        </p:nvSpPr>
        <p:spPr>
          <a:xfrm>
            <a:off x="786384" y="2011680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recommend_time</a:t>
            </a:r>
          </a:p>
        </p:txBody>
      </p:sp>
      <p:sp>
        <p:nvSpPr>
          <p:cNvPr id="15" name="Shape 15"/>
          <p:cNvSpPr/>
          <p:nvPr/>
        </p:nvSpPr>
        <p:spPr>
          <a:xfrm>
            <a:off x="3566160" y="1865376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3639312" y="2011680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create_reservation</a:t>
            </a:r>
          </a:p>
        </p:txBody>
      </p:sp>
      <p:sp>
        <p:nvSpPr>
          <p:cNvPr id="17" name="Shape 17"/>
          <p:cNvSpPr/>
          <p:nvPr/>
        </p:nvSpPr>
        <p:spPr>
          <a:xfrm>
            <a:off x="6419088" y="1865376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6492240" y="2011680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my_reservations</a:t>
            </a:r>
          </a:p>
        </p:txBody>
      </p:sp>
      <p:sp>
        <p:nvSpPr>
          <p:cNvPr id="19" name="Shape 19"/>
          <p:cNvSpPr/>
          <p:nvPr/>
        </p:nvSpPr>
        <p:spPr>
          <a:xfrm>
            <a:off x="9272015" y="1865376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9345167" y="2011680"/>
            <a:ext cx="217627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900" b="1">
                <a:solidFill>
                  <a:srgbClr val="174E63"/>
                </a:solidFill>
                <a:latin typeface="Consolas"/>
                <a:ea typeface="Consolas"/>
              </a:rPr>
              <a:t>cancel_reservation</a:t>
            </a:r>
          </a:p>
        </p:txBody>
      </p:sp>
      <p:sp>
        <p:nvSpPr>
          <p:cNvPr id="21" name="Shape 21"/>
          <p:cNvSpPr/>
          <p:nvPr/>
        </p:nvSpPr>
        <p:spPr>
          <a:xfrm>
            <a:off x="658368" y="3730752"/>
            <a:ext cx="1517904" cy="71323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22" name="TextBox 22"/>
          <p:cNvSpPr txBox="1"/>
          <p:nvPr/>
        </p:nvSpPr>
        <p:spPr>
          <a:xfrm>
            <a:off x="731519" y="3986784"/>
            <a:ext cx="13533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32A34"/>
                </a:solidFill>
                <a:latin typeface="Microsoft YaHei"/>
                <a:ea typeface="Microsoft YaHei"/>
              </a:rPr>
              <a:t>用户输入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240280" y="3941063"/>
            <a:ext cx="22860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4" name="Shape 24"/>
          <p:cNvSpPr/>
          <p:nvPr/>
        </p:nvSpPr>
        <p:spPr>
          <a:xfrm>
            <a:off x="2569463" y="3730752"/>
            <a:ext cx="1517904" cy="71323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25" name="TextBox 25"/>
          <p:cNvSpPr txBox="1"/>
          <p:nvPr/>
        </p:nvSpPr>
        <p:spPr>
          <a:xfrm>
            <a:off x="2642615" y="3986784"/>
            <a:ext cx="13533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32A34"/>
                </a:solidFill>
                <a:latin typeface="Microsoft YaHei"/>
                <a:ea typeface="Microsoft YaHei"/>
              </a:rPr>
              <a:t>抽取表单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151375" y="3941063"/>
            <a:ext cx="22860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Shape 27"/>
          <p:cNvSpPr/>
          <p:nvPr/>
        </p:nvSpPr>
        <p:spPr>
          <a:xfrm>
            <a:off x="4480559" y="3730752"/>
            <a:ext cx="1517904" cy="71323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28" name="TextBox 28"/>
          <p:cNvSpPr txBox="1"/>
          <p:nvPr/>
        </p:nvSpPr>
        <p:spPr>
          <a:xfrm>
            <a:off x="4553712" y="3986784"/>
            <a:ext cx="13533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32A34"/>
                </a:solidFill>
                <a:latin typeface="Microsoft YaHei"/>
                <a:ea typeface="Microsoft YaHei"/>
              </a:rPr>
              <a:t>选择工具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62471" y="3941063"/>
            <a:ext cx="22860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30" name="Shape 30"/>
          <p:cNvSpPr/>
          <p:nvPr/>
        </p:nvSpPr>
        <p:spPr>
          <a:xfrm>
            <a:off x="6391655" y="3730752"/>
            <a:ext cx="1517904" cy="71323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6464807" y="3986784"/>
            <a:ext cx="13533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32A34"/>
                </a:solidFill>
                <a:latin typeface="Microsoft YaHei"/>
                <a:ea typeface="Microsoft YaHei"/>
              </a:rPr>
              <a:t>后端执行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973567" y="3941063"/>
            <a:ext cx="22860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33" name="Shape 33"/>
          <p:cNvSpPr/>
          <p:nvPr/>
        </p:nvSpPr>
        <p:spPr>
          <a:xfrm>
            <a:off x="8302752" y="3730752"/>
            <a:ext cx="1517904" cy="71323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34" name="TextBox 34"/>
          <p:cNvSpPr txBox="1"/>
          <p:nvPr/>
        </p:nvSpPr>
        <p:spPr>
          <a:xfrm>
            <a:off x="8375904" y="3986784"/>
            <a:ext cx="13533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32A34"/>
                </a:solidFill>
                <a:latin typeface="Microsoft YaHei"/>
                <a:ea typeface="Microsoft YaHei"/>
              </a:rPr>
              <a:t>业务校验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84664" y="3941063"/>
            <a:ext cx="22860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500" b="1">
                <a:solidFill>
                  <a:srgbClr val="174E6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36" name="Shape 36"/>
          <p:cNvSpPr/>
          <p:nvPr/>
        </p:nvSpPr>
        <p:spPr>
          <a:xfrm>
            <a:off x="10213848" y="3730752"/>
            <a:ext cx="1517904" cy="713232"/>
          </a:xfrm>
          <a:prstGeom prst="roundRect">
            <a:avLst/>
          </a:prstGeom>
          <a:solidFill>
            <a:srgbClr val="E5F0EA"/>
          </a:solidFill>
          <a:ln w="12700">
            <a:solidFill>
              <a:srgbClr val="CFDCD5"/>
            </a:solidFill>
          </a:ln>
        </p:spPr>
        <p:txBody>
          <a:bodyPr/>
          <a:lstStyle/>
          <a:p/>
        </p:txBody>
      </p:sp>
      <p:sp>
        <p:nvSpPr>
          <p:cNvPr id="37" name="TextBox 37"/>
          <p:cNvSpPr txBox="1"/>
          <p:nvPr/>
        </p:nvSpPr>
        <p:spPr>
          <a:xfrm>
            <a:off x="10287000" y="3986784"/>
            <a:ext cx="13533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000" b="1">
                <a:solidFill>
                  <a:srgbClr val="132A34"/>
                </a:solidFill>
                <a:latin typeface="Microsoft YaHei"/>
                <a:ea typeface="Microsoft YaHei"/>
              </a:rPr>
              <a:t>回复/跳转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22960" y="5321808"/>
            <a:ext cx="1051560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Microsoft YaHei"/>
                <a:ea typeface="Microsoft YaHei"/>
              </a:rPr>
              <a:t>多轮会话保存 last_labs、last_recommended_time 等上下文，支持“就第一个”“就这个时间”等省略表达。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12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关键实现亮点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713232" y="1170432"/>
            <a:ext cx="491947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6" name="Shape 6"/>
          <p:cNvSpPr/>
          <p:nvPr/>
        </p:nvSpPr>
        <p:spPr>
          <a:xfrm>
            <a:off x="713232" y="1170432"/>
            <a:ext cx="73152" cy="1371600"/>
          </a:xfrm>
          <a:prstGeom prst="rect">
            <a:avLst/>
          </a:prstGeom>
          <a:solidFill>
            <a:srgbClr val="174E63"/>
          </a:solidFill>
          <a:ln w="12700">
            <a:solidFill>
              <a:srgbClr val="174E63"/>
            </a:solidFill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941832" y="1353312"/>
            <a:ext cx="4507992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后端分层清晰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1832" y="1783080"/>
            <a:ext cx="4507992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API 层处理入口，Service 层承载业务，Model 层管理实体关系，Utils 层提供通用响应和校验。</a:t>
            </a:r>
          </a:p>
        </p:txBody>
      </p:sp>
      <p:sp>
        <p:nvSpPr>
          <p:cNvPr id="9" name="Shape 9"/>
          <p:cNvSpPr/>
          <p:nvPr/>
        </p:nvSpPr>
        <p:spPr>
          <a:xfrm>
            <a:off x="6272784" y="1170432"/>
            <a:ext cx="491947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6272784" y="1170432"/>
            <a:ext cx="73152" cy="1371600"/>
          </a:xfrm>
          <a:prstGeom prst="rect">
            <a:avLst/>
          </a:prstGeom>
          <a:solidFill>
            <a:srgbClr val="C28A3A"/>
          </a:solidFill>
          <a:ln w="12700">
            <a:solidFill>
              <a:srgbClr val="C28A3A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6501384" y="1353312"/>
            <a:ext cx="4507992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预约冲突集中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01384" y="1783080"/>
            <a:ext cx="4507992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预约创建统一检测有效状态下的时间重叠，避免 Web、小程序和 Agent 出现规则差异。</a:t>
            </a:r>
          </a:p>
        </p:txBody>
      </p:sp>
      <p:sp>
        <p:nvSpPr>
          <p:cNvPr id="13" name="Shape 13"/>
          <p:cNvSpPr/>
          <p:nvPr/>
        </p:nvSpPr>
        <p:spPr>
          <a:xfrm>
            <a:off x="713232" y="3108960"/>
            <a:ext cx="491947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713232" y="3108960"/>
            <a:ext cx="73152" cy="1371600"/>
          </a:xfrm>
          <a:prstGeom prst="rect">
            <a:avLst/>
          </a:prstGeom>
          <a:solidFill>
            <a:srgbClr val="7BA36D"/>
          </a:solidFill>
          <a:ln w="12700">
            <a:solidFill>
              <a:srgbClr val="7BA36D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941832" y="3291840"/>
            <a:ext cx="4507992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Agent 可降级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41832" y="3721608"/>
            <a:ext cx="4507992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大模型不可用时保留规则模式，个人预约、排期查询、取消预约等基础功能仍可运行。</a:t>
            </a:r>
          </a:p>
        </p:txBody>
      </p:sp>
      <p:sp>
        <p:nvSpPr>
          <p:cNvPr id="17" name="Shape 17"/>
          <p:cNvSpPr/>
          <p:nvPr/>
        </p:nvSpPr>
        <p:spPr>
          <a:xfrm>
            <a:off x="6272784" y="3108960"/>
            <a:ext cx="491947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DC"/>
            </a:solidFill>
          </a:ln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6272784" y="3108960"/>
            <a:ext cx="73152" cy="1371600"/>
          </a:xfrm>
          <a:prstGeom prst="rect">
            <a:avLst/>
          </a:prstGeom>
          <a:solidFill>
            <a:srgbClr val="2D6F8F"/>
          </a:solidFill>
          <a:ln w="12700">
            <a:solidFill>
              <a:srgbClr val="2D6F8F"/>
            </a:solidFill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6501384" y="3291840"/>
            <a:ext cx="4507992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600" b="1">
                <a:solidFill>
                  <a:srgbClr val="132A34"/>
                </a:solidFill>
                <a:latin typeface="Microsoft YaHei"/>
                <a:ea typeface="Microsoft YaHei"/>
              </a:rPr>
              <a:t>操作可追踪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01384" y="3721608"/>
            <a:ext cx="4507992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22000"/>
              </a:lnSpc>
            </a:pPr>
            <a:r>
              <a:rPr lang="zh-CN" sz="1100">
                <a:solidFill>
                  <a:srgbClr val="627279"/>
                </a:solidFill>
                <a:latin typeface="Microsoft YaHei"/>
                <a:ea typeface="Microsoft YaHei"/>
              </a:rPr>
              <a:t>审批、预约和管理操作写入日志，为系统审计、问题回溯和答辩说明提供依据。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C9DAD2"/>
                </a:solidFill>
                <a:latin typeface="Consolas"/>
                <a:ea typeface="Consolas"/>
              </a:rPr>
              <a:t>13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F7F4EC"/>
                </a:solidFill>
                <a:latin typeface="Microsoft YaHei"/>
                <a:ea typeface="Microsoft YaHei"/>
              </a:rPr>
              <a:t>系统测试与结果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6C8B83"/>
            </a:solidFill>
          </a:ln>
        </p:spPr>
      </p:cxnSp>
      <p:sp>
        <p:nvSpPr>
          <p:cNvPr id="5" name="Shape 5"/>
          <p:cNvSpPr/>
          <p:nvPr/>
        </p:nvSpPr>
        <p:spPr>
          <a:xfrm>
            <a:off x="822960" y="1325880"/>
            <a:ext cx="4800600" cy="102412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6" name="TextBox 6"/>
          <p:cNvSpPr txBox="1"/>
          <p:nvPr/>
        </p:nvSpPr>
        <p:spPr>
          <a:xfrm>
            <a:off x="1024128" y="152704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400" b="1">
                <a:solidFill>
                  <a:srgbClr val="113A48"/>
                </a:solidFill>
                <a:latin typeface="Microsoft YaHei"/>
                <a:ea typeface="Microsoft YaHei"/>
              </a:rPr>
              <a:t>功能测试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04288" y="1527048"/>
            <a:ext cx="29718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登录、资源管理、预约、审批、统计、Agent 对话</a:t>
            </a:r>
          </a:p>
        </p:txBody>
      </p:sp>
      <p:sp>
        <p:nvSpPr>
          <p:cNvPr id="8" name="Shape 8"/>
          <p:cNvSpPr/>
          <p:nvPr/>
        </p:nvSpPr>
        <p:spPr>
          <a:xfrm>
            <a:off x="6355080" y="1325880"/>
            <a:ext cx="4800600" cy="102412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6556248" y="152704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400" b="1">
                <a:solidFill>
                  <a:srgbClr val="113A48"/>
                </a:solidFill>
                <a:latin typeface="Microsoft YaHei"/>
                <a:ea typeface="Microsoft YaHei"/>
              </a:rPr>
              <a:t>权限测试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36408" y="1527048"/>
            <a:ext cx="29718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角色入口、接口鉴权、校区级数据范围</a:t>
            </a:r>
          </a:p>
        </p:txBody>
      </p:sp>
      <p:sp>
        <p:nvSpPr>
          <p:cNvPr id="11" name="Shape 11"/>
          <p:cNvSpPr/>
          <p:nvPr/>
        </p:nvSpPr>
        <p:spPr>
          <a:xfrm>
            <a:off x="822960" y="2953512"/>
            <a:ext cx="4800600" cy="102412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1024128" y="31546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400" b="1">
                <a:solidFill>
                  <a:srgbClr val="113A48"/>
                </a:solidFill>
                <a:latin typeface="Microsoft YaHei"/>
                <a:ea typeface="Microsoft YaHei"/>
              </a:rPr>
              <a:t>边界测试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304288" y="3154680"/>
            <a:ext cx="29718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容量超限、时间非法、预约冲突、缺参</a:t>
            </a:r>
          </a:p>
        </p:txBody>
      </p:sp>
      <p:sp>
        <p:nvSpPr>
          <p:cNvPr id="14" name="Shape 14"/>
          <p:cNvSpPr/>
          <p:nvPr/>
        </p:nvSpPr>
        <p:spPr>
          <a:xfrm>
            <a:off x="6355080" y="2953512"/>
            <a:ext cx="4800600" cy="1024128"/>
          </a:xfrm>
          <a:prstGeom prst="roundRect">
            <a:avLst/>
          </a:prstGeom>
          <a:solidFill>
            <a:srgbClr val="F7F4EC"/>
          </a:solidFill>
          <a:ln w="12700">
            <a:solidFill>
              <a:srgbClr val="CAD8D2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6556248" y="31546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400" b="1">
                <a:solidFill>
                  <a:srgbClr val="113A48"/>
                </a:solidFill>
                <a:latin typeface="Microsoft YaHei"/>
                <a:ea typeface="Microsoft YaHei"/>
              </a:rPr>
              <a:t>稳定性测试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36408" y="3154680"/>
            <a:ext cx="29718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000">
                <a:solidFill>
                  <a:srgbClr val="627279"/>
                </a:solidFill>
                <a:latin typeface="Microsoft YaHei"/>
                <a:ea typeface="Microsoft YaHei"/>
              </a:rPr>
              <a:t>LLM 不可用时规则兜底，接口统一错误返回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" y="5230368"/>
            <a:ext cx="1024128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F7F4EC"/>
                </a:solidFill>
                <a:latin typeface="Microsoft YaHei"/>
                <a:ea typeface="Microsoft YaHei"/>
              </a:rPr>
              <a:t>测试结论：系统能够覆盖多角色、多校区、多终端条件下的核心实验室预约管理需求。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8229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200" b="1">
                <a:solidFill>
                  <a:srgbClr val="627279"/>
                </a:solidFill>
                <a:latin typeface="Consolas"/>
                <a:ea typeface="Consolas"/>
              </a:rPr>
              <a:t>14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87552" y="23774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1900" b="1">
                <a:solidFill>
                  <a:srgbClr val="132A34"/>
                </a:solidFill>
                <a:latin typeface="Microsoft YaHei"/>
                <a:ea typeface="Microsoft YaHei"/>
              </a:rPr>
              <a:t>总结与展望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502920" y="749808"/>
            <a:ext cx="11183111" cy="1"/>
          </a:xfrm>
          <a:prstGeom prst="line">
            <a:avLst/>
          </a:prstGeom>
          <a:ln w="12700">
            <a:solidFill>
              <a:srgbClr val="D9E1DC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713232" y="1078992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300" b="1">
                <a:solidFill>
                  <a:srgbClr val="132A34"/>
                </a:solidFill>
                <a:latin typeface="Microsoft YaHei"/>
                <a:ea typeface="Microsoft YaHei"/>
              </a:rPr>
              <a:t>已完成工作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2960" y="1755648"/>
            <a:ext cx="4937760" cy="215798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构建跨校区实验室资源模型</a:t>
            </a:r>
          </a:p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实现预约冲突检测与审批流转</a:t>
            </a:r>
          </a:p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完成 Web/H5 与微信小程序多端访问</a:t>
            </a:r>
          </a:p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实现面向预约场景的 Agent 智能助手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19088" y="1078992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10000"/>
              </a:lnSpc>
            </a:pPr>
            <a:r>
              <a:rPr lang="zh-CN" sz="2300" b="1">
                <a:solidFill>
                  <a:srgbClr val="132A34"/>
                </a:solidFill>
                <a:latin typeface="Microsoft YaHei"/>
                <a:ea typeface="Microsoft YaHei"/>
              </a:rPr>
              <a:t>后续优化方向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28816" y="1755648"/>
            <a:ext cx="4800600" cy="215798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引入设备实时状态与物联网数据</a:t>
            </a:r>
          </a:p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增强统计预测和资源利用率分析</a:t>
            </a:r>
          </a:p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扩展 Agent 的可解释性和日志追踪</a:t>
            </a:r>
          </a:p>
          <a:p>
            <a:pPr algn="l" marL="0" marR="0" indent="0">
              <a:lnSpc>
                <a:spcPct val="132000"/>
              </a:lnSpc>
            </a:pPr>
            <a:r>
              <a:rPr lang="zh-CN" sz="1600">
                <a:solidFill>
                  <a:srgbClr val="627279"/>
                </a:solidFill>
                <a:latin typeface="Microsoft YaHei"/>
                <a:ea typeface="Microsoft YaHei"/>
              </a:rPr>
              <a:t>• 完善移动端体验与异常恢复机制</a:t>
            </a:r>
          </a:p>
        </p:txBody>
      </p:sp>
      <p:sp>
        <p:nvSpPr>
          <p:cNvPr id="9" name="Shape 9"/>
          <p:cNvSpPr/>
          <p:nvPr/>
        </p:nvSpPr>
        <p:spPr>
          <a:xfrm>
            <a:off x="786384" y="5047488"/>
            <a:ext cx="10661904" cy="658368"/>
          </a:xfrm>
          <a:prstGeom prst="roundRect">
            <a:avLst/>
          </a:prstGeom>
          <a:solidFill>
            <a:srgbClr val="113A48"/>
          </a:solidFill>
          <a:ln w="12700">
            <a:solidFill>
              <a:srgbClr val="113A48"/>
            </a:solidFill>
          </a:ln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1024128" y="5276088"/>
            <a:ext cx="101681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300" b="1">
                <a:solidFill>
                  <a:srgbClr val="F7F4EC"/>
                </a:solidFill>
                <a:latin typeface="Microsoft YaHei"/>
                <a:ea typeface="Microsoft YaHei"/>
              </a:rPr>
              <a:t>核心贡献：把跨校区资源协同、权限控制、预约业务规则和智能助手整合为一套可运行系统。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A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04672" y="1508760"/>
            <a:ext cx="10607040" cy="8046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4200" b="1">
                <a:solidFill>
                  <a:srgbClr val="F7F4EC"/>
                </a:solidFill>
                <a:latin typeface="Microsoft YaHei"/>
                <a:ea typeface="Microsoft YaHei"/>
              </a:rPr>
              <a:t>谢谢各位老师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645920" y="2743200"/>
            <a:ext cx="89611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2300">
                <a:solidFill>
                  <a:srgbClr val="D8E5DF"/>
                </a:solidFill>
                <a:latin typeface="Microsoft YaHei"/>
                <a:ea typeface="Microsoft YaHei"/>
              </a:rPr>
              <a:t>欢迎批评指正</a:t>
            </a:r>
          </a:p>
        </p:txBody>
      </p:sp>
      <p:cxnSp>
        <p:nvCxnSpPr>
          <p:cNvPr id="4" name="Line 4"/>
          <p:cNvCxnSpPr/>
          <p:nvPr/>
        </p:nvCxnSpPr>
        <p:spPr>
          <a:xfrm>
            <a:off x="2834640" y="3657600"/>
            <a:ext cx="6528816" cy="1"/>
          </a:xfrm>
          <a:prstGeom prst="line">
            <a:avLst/>
          </a:prstGeom>
          <a:ln w="27940">
            <a:solidFill>
              <a:srgbClr val="C28A3A"/>
            </a:solidFill>
          </a:ln>
        </p:spPr>
      </p:cxnSp>
      <p:sp>
        <p:nvSpPr>
          <p:cNvPr id="5" name="TextBox 5"/>
          <p:cNvSpPr txBox="1"/>
          <p:nvPr/>
        </p:nvSpPr>
        <p:spPr>
          <a:xfrm>
            <a:off x="1417320" y="4251960"/>
            <a:ext cx="94183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marR="0" indent="0">
              <a:lnSpc>
                <a:spcPct val="110000"/>
              </a:lnSpc>
            </a:pPr>
            <a:r>
              <a:rPr lang="zh-CN" sz="1700" b="1">
                <a:solidFill>
                  <a:srgbClr val="F7F4EC"/>
                </a:solidFill>
                <a:latin typeface="Microsoft YaHei"/>
                <a:ea typeface="Microsoft YaHei"/>
              </a:rPr>
              <a:t>支持跨校区协作的分布式实验室管理系统设计与实现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enseTheme">
  <a:themeElements>
    <a:clrScheme name="Defense">
      <a:dk1>
        <a:srgbClr val="132A34"/>
      </a:dk1>
      <a:lt1>
        <a:srgbClr val="F7F4EC"/>
      </a:lt1>
      <a:dk2>
        <a:srgbClr val="113A48"/>
      </a:dk2>
      <a:lt2>
        <a:srgbClr val="EEF3EE"/>
      </a:lt2>
      <a:accent1>
        <a:srgbClr val="174E63"/>
      </a:accent1>
      <a:accent2>
        <a:srgbClr val="2D6F8F"/>
      </a:accent2>
      <a:accent3>
        <a:srgbClr val="C28A3A"/>
      </a:accent3>
      <a:accent4>
        <a:srgbClr val="7BA36D"/>
      </a:accent4>
      <a:accent5>
        <a:srgbClr val="B75F32"/>
      </a:accent5>
      <a:accent6>
        <a:srgbClr val="627279"/>
      </a:accent6>
      <a:hlink>
        <a:srgbClr val="2D6F8F"/>
      </a:hlink>
      <a:folHlink>
        <a:srgbClr val="7BA36D"/>
      </a:folHlink>
    </a:clrScheme>
    <a:fontScheme name="Defense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Defens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