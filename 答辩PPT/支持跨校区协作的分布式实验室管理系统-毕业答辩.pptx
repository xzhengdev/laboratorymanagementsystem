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通过用例</c:v>
                </c:pt>
              </c:strCache>
            </c:strRef>
          </c:tx>
          <c:spPr>
            <a:solidFill>
              <a:srgbClr val="C28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功能</c:v>
                  </c:pt>
                  <c:pt idx="1">
                    <c:v>权限</c:v>
                  </c:pt>
                  <c:pt idx="2">
                    <c:v>边界</c:v>
                  </c:pt>
                  <c:pt idx="3">
                    <c:v>Agent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5273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各位老师好，我的毕业设计题目是《支持跨校区协作的分布式实验室管理系统设计与实现》。系统面向高校多校区实验室资源管理与预约审批场景，采用 Flask 后端、SQLAlchemy 数据模型、uni-app Web/H5 端和微信小程序端，并加入面向预约业务的 Agent 智能助手。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本次汇报主要分为四个部分：首先说明研究背景与管理痛点；然后介绍系统目标、角色模块和总体架构；接着重点说明预约规则、权限控制和 Agent 智能助手；最后给出测试结论、总结与后续展望。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校区办学后，实验室资源不再集中在单一地点，开放时间、容量、设备状态和管理人员都可能不同。传统线下登记或表格管理容易带来信息不透明、预约冲突、审批滞后和统计困难等问题。因此本课题希望用统一系统解决跨校区协同管理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系统目标可以概括为四点：统一资源组织、规范预约流程、角色权限隔离和智能交互入口。尤其是预约相关规则全部在后端服务层统一校验，保证 Web 端、小程序端和 Agent 调用的业务结果一致。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系统包含学生、教师、实验室管理员和系统管理员四类角色。学生和教师主要完成查询、预约和个人预约管理；实验室管理员负责本校区资源维护和审批；系统管理员负责全局数据维护和统计管理。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系统采用前后端分离与分层架构。前端包括 Web/H5 和微信小程序，统一调用 Flask 提供的 RESTful API。后端分为 API 层、Service 层、Model 层和 Utils 层，其中 Service 层集中处理预约冲突检测、审批流转、统计聚合和 Agent 工具执行。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数据模型围绕校区、实验室、设备、预约、审批和操作日志展开。校区与实验室是一对多关系，实验室关联设备和预约记录，预约再关联审批记录。这样的设计既能支持跨校区查询，也能支持校区级权限隔离。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预约创建时，系统会依次校验必填字段、实验室状态、校区一致性、时间范围、开放时段、容量限制和预约冲突。学生和教师提交后默认进入待审批状态，管理员预约可按规则自动通过。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 JWT 进行登录鉴权，并结合 RBAC 思想控制不同角色的接口权限。对于实验室管理员，系统进一步限制其只能管理所属校区的数据。Agent 创建预约时同样走后端服务层，因此不能绕过权限和业务校验。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Web/H5 端主要面向管理人员，小程序端主要面向学生和教师。两端共享同一套后端 API，前端负责展示和交互，核心业务规则不重复写在不同端，降低了维护成本。前端按 api、common、components、config 和 pages 分层组织。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系统将校区、实验室、设备和预约记录统一组织。用户可按校区浏览资源，管理员可按校区维护数据。展示重点不只是页面数量，而是多端共用同一套后端规则，减少系统维护和数据不一致风险。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的定位不是直接操作数据库，而是自然语言入口和任务规划器。系统先用规则抽取日期、时间、人数、校区等字段，再由 DeepSeek 判断下一步调用哪个工具，最后由后端工具和 Service 层执行业务。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支持查询实验室、查询排期、检查可用性、推荐实验室、推荐时间、创建预约、查询我的预约和取消预约等工具。同时会保存上一次推荐结果，使用户可以用“就第一个”“就这个时间”这类自然表达继续操作。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本系统的实现亮点包括：后端分层清晰、预约冲突检测集中、Agent 可降级和操作可追踪。尤其是可降级设计可以保证大模型不可用时，基础查询和预约辅助功能仍可运行。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测试主要覆盖功能测试、权限测试、边界测试、稳定性测试和 Agent 模块测试。结果表明，系统能够支持多角色、多校区和多终端条件下的实验室预约管理需求，并能对越权、冲突、容量超限和开放时间外预约等异常情况进行限制。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本课题完成了跨校区实验室管理系统的设计与实现，并在传统预约系统基础上加入 Agent 智能助手。后续可以继续扩展统一身份认证、消息通知、资源利用率预测、Agent 日志可解释性和移动端体验优化。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我的汇报到此结束，欢迎各位老师批评指正。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45152" cy="6858000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pic>
        <p:nvPicPr>
          <p:cNvPr id="3" name="Image 0" descr="C:\Users\Ete'rna'l\Desktop\毕设\lab\frontend\static\campuses\zhongyangminzudaxue.jpg">    </p:cNvPr>
          <p:cNvPicPr>
            <a:picLocks noChangeAspect="1"/>
          </p:cNvPicPr>
          <p:nvPr/>
        </p:nvPicPr>
        <p:blipFill>
          <a:blip r:embed="rId1"/>
          <a:srcRect l="26453" r="26453" t="0" b="0"/>
          <a:stretch/>
        </p:blipFill>
        <p:spPr>
          <a:xfrm>
            <a:off x="4645152" y="0"/>
            <a:ext cx="7543800" cy="6858000"/>
          </a:xfrm>
          <a:prstGeom prst="rect">
            <a:avLst/>
          </a:prstGeom>
        </p:spPr>
      </p:pic>
      <p:pic>
        <p:nvPicPr>
          <p:cNvPr id="4" name="Image 1" descr="C:\Users\Ete'rna'l\Desktop\毕设\lab\frontend\static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1872" y="6126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7E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13232" y="1280160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96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</a:t>
            </a:r>
            <a:endParaRPr lang="en-US" sz="2896" dirty="0"/>
          </a:p>
          <a:p>
            <a:pPr algn="l" indent="0" marL="0">
              <a:buNone/>
            </a:pPr>
            <a:r>
              <a:rPr lang="en-US" sz="2896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分布式实验室</a:t>
            </a:r>
            <a:endParaRPr lang="en-US" sz="2896" dirty="0"/>
          </a:p>
          <a:p>
            <a:pPr algn="l" indent="0" marL="0">
              <a:buNone/>
            </a:pPr>
            <a:r>
              <a:rPr lang="en-US" sz="2896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</a:t>
            </a:r>
            <a:endParaRPr lang="en-US" sz="2896" dirty="0"/>
          </a:p>
        </p:txBody>
      </p:sp>
      <p:sp>
        <p:nvSpPr>
          <p:cNvPr id="7" name="Shape 3"/>
          <p:cNvSpPr/>
          <p:nvPr/>
        </p:nvSpPr>
        <p:spPr>
          <a:xfrm>
            <a:off x="731520" y="3182112"/>
            <a:ext cx="2606040" cy="0"/>
          </a:xfrm>
          <a:prstGeom prst="line">
            <a:avLst/>
          </a:prstGeom>
          <a:noFill/>
          <a:ln w="28575">
            <a:solidFill>
              <a:srgbClr val="C28A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E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设计与实现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" y="376732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3" dirty="0">
                <a:solidFill>
                  <a:srgbClr val="D7E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+ SQLAlchemy + uni-app + 微信小程序 + Agent 智能助手</a:t>
            </a:r>
            <a:endParaRPr lang="en-US" sz="893" dirty="0"/>
          </a:p>
        </p:txBody>
      </p:sp>
      <p:sp>
        <p:nvSpPr>
          <p:cNvPr id="10" name="Shape 6"/>
          <p:cNvSpPr/>
          <p:nvPr/>
        </p:nvSpPr>
        <p:spPr>
          <a:xfrm>
            <a:off x="749808" y="4480560"/>
            <a:ext cx="1051560" cy="301752"/>
          </a:xfrm>
          <a:prstGeom prst="roundRect">
            <a:avLst/>
          </a:prstGeom>
          <a:solidFill>
            <a:srgbClr val="DDEAE5"/>
          </a:solidFill>
          <a:ln w="12700">
            <a:solidFill>
              <a:srgbClr val="DDEA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558284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跨校区资源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938528" y="4480560"/>
            <a:ext cx="914400" cy="301752"/>
          </a:xfrm>
          <a:prstGeom prst="roundRect">
            <a:avLst/>
          </a:prstGeom>
          <a:solidFill>
            <a:srgbClr val="DDEAE5"/>
          </a:solidFill>
          <a:ln w="12700">
            <a:solidFill>
              <a:srgbClr val="DDEA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011680" y="4558284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预约审批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980944" y="4480560"/>
            <a:ext cx="914400" cy="301752"/>
          </a:xfrm>
          <a:prstGeom prst="roundRect">
            <a:avLst/>
          </a:prstGeom>
          <a:solidFill>
            <a:srgbClr val="DDEAE5"/>
          </a:solidFill>
          <a:ln w="12700">
            <a:solidFill>
              <a:srgbClr val="DDEA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54096" y="4558284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49808" y="4882896"/>
            <a:ext cx="960120" cy="301752"/>
          </a:xfrm>
          <a:prstGeom prst="roundRect">
            <a:avLst/>
          </a:prstGeom>
          <a:solidFill>
            <a:srgbClr val="DDEAE5"/>
          </a:solidFill>
          <a:ln w="12700">
            <a:solidFill>
              <a:srgbClr val="DDEA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960620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49808" y="60350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8F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答辩人：________    指导教师：________    专业：________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618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572768" y="1472184"/>
            <a:ext cx="822960" cy="0"/>
          </a:xfrm>
          <a:prstGeom prst="line">
            <a:avLst/>
          </a:prstGeom>
          <a:noFill/>
          <a:ln w="25400">
            <a:solidFill>
              <a:srgbClr val="174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048" y="1207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背景与问题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54880" y="12435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多校区资源分散，线下预约与审批难以形成闭环。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6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72768" y="2551176"/>
            <a:ext cx="822960" cy="0"/>
          </a:xfrm>
          <a:prstGeom prst="line">
            <a:avLst/>
          </a:prstGeom>
          <a:noFill/>
          <a:ln w="25400">
            <a:solidFill>
              <a:srgbClr val="2D6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286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232257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围绕角色、资源、预约、审批、统计建立统一架构。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34198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8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72768" y="3630168"/>
            <a:ext cx="822960" cy="0"/>
          </a:xfrm>
          <a:prstGeom prst="line">
            <a:avLst/>
          </a:prstGeom>
          <a:noFill/>
          <a:ln w="25400">
            <a:solidFill>
              <a:srgbClr val="C28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3364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关键实现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54880" y="34015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后端分层、冲突检测、权限边界、Agent 工具体系。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" y="44988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A3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572768" y="4709160"/>
            <a:ext cx="822960" cy="0"/>
          </a:xfrm>
          <a:prstGeom prst="line">
            <a:avLst/>
          </a:prstGeom>
          <a:noFill/>
          <a:ln w="25400">
            <a:solidFill>
              <a:srgbClr val="7BA3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4443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测试总结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754880" y="44805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验证核心业务流程，并说明不足与后续优化方向。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" y="5779008"/>
            <a:ext cx="10789920" cy="420624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925312"/>
            <a:ext cx="10332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答辩主线：从真实管理痛点出发，说明系统如何用工程结构和智能助手提升规范性、透明度和效率。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研究背景与问题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9875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8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多校区办学让实验室管理从“登记问题”升级为“协同问题”。</a:t>
            </a:r>
            <a:endParaRPr lang="en-US" sz="1488" dirty="0"/>
          </a:p>
        </p:txBody>
      </p:sp>
      <p:sp>
        <p:nvSpPr>
          <p:cNvPr id="6" name="Shape 4"/>
          <p:cNvSpPr/>
          <p:nvPr/>
        </p:nvSpPr>
        <p:spPr>
          <a:xfrm>
            <a:off x="713232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57400"/>
            <a:ext cx="73152" cy="1965960"/>
          </a:xfrm>
          <a:prstGeom prst="rect">
            <a:avLst/>
          </a:prstGeom>
          <a:solidFill>
            <a:srgbClr val="174E63"/>
          </a:solidFill>
          <a:ln w="12700">
            <a:solidFill>
              <a:srgbClr val="174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资源分散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642616"/>
            <a:ext cx="30175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不同校区实验室类型、设备配置、开放时间和管理人员存在差异，师生难以及时判断可用资源。</a:t>
            </a:r>
            <a:endParaRPr lang="en-US" sz="1017" dirty="0"/>
          </a:p>
        </p:txBody>
      </p:sp>
      <p:sp>
        <p:nvSpPr>
          <p:cNvPr id="10" name="Shape 8"/>
          <p:cNvSpPr/>
          <p:nvPr/>
        </p:nvSpPr>
        <p:spPr>
          <a:xfrm>
            <a:off x="4407408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2057400"/>
            <a:ext cx="73152" cy="1965960"/>
          </a:xfrm>
          <a:prstGeom prst="rect">
            <a:avLst/>
          </a:prstGeom>
          <a:solidFill>
            <a:srgbClr val="B75F32"/>
          </a:solidFill>
          <a:ln w="12700">
            <a:solidFill>
              <a:srgbClr val="B75F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流程滞后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08576" y="2642616"/>
            <a:ext cx="30175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线下登记、人工沟通和表格维护容易造成重复预约、审批延迟与信息遗漏。</a:t>
            </a:r>
            <a:endParaRPr lang="en-US" sz="1017" dirty="0"/>
          </a:p>
        </p:txBody>
      </p:sp>
      <p:sp>
        <p:nvSpPr>
          <p:cNvPr id="14" name="Shape 12"/>
          <p:cNvSpPr/>
          <p:nvPr/>
        </p:nvSpPr>
        <p:spPr>
          <a:xfrm>
            <a:off x="8101584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2057400"/>
            <a:ext cx="73152" cy="1965960"/>
          </a:xfrm>
          <a:prstGeom prst="rect">
            <a:avLst/>
          </a:prstGeom>
          <a:solidFill>
            <a:srgbClr val="7BA36D"/>
          </a:solidFill>
          <a:ln w="12700">
            <a:solidFill>
              <a:srgbClr val="7BA3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统计困难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02752" y="2642616"/>
            <a:ext cx="30175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审批记录、使用情况和操作日志分散，管理人员缺少可追踪的数据依据。</a:t>
            </a:r>
            <a:endParaRPr lang="en-US" sz="1017" dirty="0"/>
          </a:p>
        </p:txBody>
      </p:sp>
      <p:sp>
        <p:nvSpPr>
          <p:cNvPr id="18" name="Shape 16"/>
          <p:cNvSpPr/>
          <p:nvPr/>
        </p:nvSpPr>
        <p:spPr>
          <a:xfrm>
            <a:off x="749808" y="4736592"/>
            <a:ext cx="10735056" cy="731520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992624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课题目标：建立统一后端、多端访问、权限隔离、可追踪审批与自然语言辅助的实验室管理平台。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3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系统建设目标与研究内容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6E87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51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28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316736"/>
            <a:ext cx="1170432" cy="0"/>
          </a:xfrm>
          <a:prstGeom prst="line">
            <a:avLst/>
          </a:prstGeom>
          <a:noFill/>
          <a:ln w="25400">
            <a:solidFill>
              <a:srgbClr val="C28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447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44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一个平台覆盖</a:t>
            </a:r>
            <a:endParaRPr lang="en-US" sz="1944" dirty="0"/>
          </a:p>
          <a:p>
            <a:pPr algn="l" indent="0" marL="0">
              <a:buNone/>
            </a:pPr>
            <a:r>
              <a:rPr lang="en-US" sz="1944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资源、预约、审批、统计与智能问答</a:t>
            </a:r>
            <a:endParaRPr lang="en-US" sz="1944" dirty="0"/>
          </a:p>
        </p:txBody>
      </p:sp>
      <p:sp>
        <p:nvSpPr>
          <p:cNvPr id="8" name="Shape 6"/>
          <p:cNvSpPr/>
          <p:nvPr/>
        </p:nvSpPr>
        <p:spPr>
          <a:xfrm>
            <a:off x="4892040" y="1143000"/>
            <a:ext cx="3063240" cy="1261872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344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统一资源组织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5111496" y="17465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校区、实验室、设备、用户与预约数据集中建模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75320" y="1143000"/>
            <a:ext cx="3063240" cy="1261872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1344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规范预约流程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8494776" y="17465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开放时间、容量、状态、冲突检测和审批流转统一校验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92040" y="3017520"/>
            <a:ext cx="3063240" cy="1261872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32186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角色权限隔离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5111496" y="36210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学生、教师、实验室管理员、系统管理员分权访问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75320" y="3017520"/>
            <a:ext cx="3063240" cy="1261872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32186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智能交互入口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8494776" y="36210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Agent 降低查询路径和预约操作成本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539496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D7E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核心原则：业务规则集中在后端 Service 层，多端共享同一套判断结果。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FD1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用户角色与功能模块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060704"/>
            <a:ext cx="2414016" cy="120700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31520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权限范围：仅自己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474720" y="1060704"/>
            <a:ext cx="2414016" cy="1207008"/>
          </a:xfrm>
          <a:prstGeom prst="roundRect">
            <a:avLst/>
          </a:prstGeom>
          <a:solidFill>
            <a:srgbClr val="F1F3EE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2618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3584448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84448" y="190195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权限范围：仅自己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327648" y="1060704"/>
            <a:ext cx="2414016" cy="1207008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2618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实验室管理员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437376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lab_admin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37376" y="190195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权限范围：本校区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180576" y="1060704"/>
            <a:ext cx="2414016" cy="1207008"/>
          </a:xfrm>
          <a:prstGeom prst="roundRect">
            <a:avLst/>
          </a:prstGeom>
          <a:solidFill>
            <a:srgbClr val="E6EEF2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12618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系统管理员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9290304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system_admin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290304" y="190195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权限范围：全局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49808" y="3063240"/>
            <a:ext cx="32278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063240"/>
            <a:ext cx="73152" cy="859536"/>
          </a:xfrm>
          <a:prstGeom prst="rect">
            <a:avLst/>
          </a:prstGeom>
          <a:solidFill>
            <a:srgbClr val="174E63"/>
          </a:solidFill>
          <a:ln w="12700">
            <a:solidFill>
              <a:srgbClr val="174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24612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认证与资料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0976" y="364845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登录鉴权、资料维护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3063240"/>
            <a:ext cx="32278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063240"/>
            <a:ext cx="73152" cy="859536"/>
          </a:xfrm>
          <a:prstGeom prst="rect">
            <a:avLst/>
          </a:prstGeom>
          <a:solidFill>
            <a:srgbClr val="7BA36D"/>
          </a:solidFill>
          <a:ln w="12700">
            <a:solidFill>
              <a:srgbClr val="7BA3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24612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资源管理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81728" y="364845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校区、实验室、设备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11312" y="3063240"/>
            <a:ext cx="32278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3063240"/>
            <a:ext cx="73152" cy="859536"/>
          </a:xfrm>
          <a:prstGeom prst="rect">
            <a:avLst/>
          </a:prstGeom>
          <a:solidFill>
            <a:srgbClr val="C28A3A"/>
          </a:solidFill>
          <a:ln w="12700">
            <a:solidFill>
              <a:srgbClr val="C28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324612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预约管理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12480" y="364845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提交、冲突检测、取消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" y="4251960"/>
            <a:ext cx="32278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4251960"/>
            <a:ext cx="73152" cy="859536"/>
          </a:xfrm>
          <a:prstGeom prst="rect">
            <a:avLst/>
          </a:prstGeom>
          <a:solidFill>
            <a:srgbClr val="B75F32"/>
          </a:solidFill>
          <a:ln w="12700">
            <a:solidFill>
              <a:srgbClr val="B75F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443484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审批管理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50976" y="483717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通过/拒绝、审批意见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80560" y="4251960"/>
            <a:ext cx="32278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4251960"/>
            <a:ext cx="73152" cy="859536"/>
          </a:xfrm>
          <a:prstGeom prst="rect">
            <a:avLst/>
          </a:prstGeom>
          <a:solidFill>
            <a:srgbClr val="2D6F8F"/>
          </a:solidFill>
          <a:ln w="12700">
            <a:solidFill>
              <a:srgbClr val="2D6F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443484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4681728" y="483717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总览、校区、利用率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11312" y="4251960"/>
            <a:ext cx="32278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11312" y="4251960"/>
            <a:ext cx="73152" cy="859536"/>
          </a:xfrm>
          <a:prstGeom prst="rect">
            <a:avLst/>
          </a:prstGeom>
          <a:solidFill>
            <a:srgbClr val="174E63"/>
          </a:solidFill>
          <a:ln w="12700">
            <a:solidFill>
              <a:srgbClr val="174E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443484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助手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412480" y="483717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查询、推荐、创建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系统总体架构设计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05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271016"/>
            <a:ext cx="1170432" cy="0"/>
          </a:xfrm>
          <a:prstGeom prst="line">
            <a:avLst/>
          </a:prstGeom>
          <a:noFill/>
          <a:ln w="25400">
            <a:solidFill>
              <a:srgbClr val="174E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00784"/>
            <a:ext cx="2240280" cy="2880360"/>
          </a:xfrm>
          <a:prstGeom prst="roundRect">
            <a:avLst/>
          </a:prstGeom>
          <a:solidFill>
            <a:srgbClr val="E2F0EA"/>
          </a:solidFill>
          <a:ln w="12700">
            <a:solidFill>
              <a:srgbClr val="C8D6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55648" y="19019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450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客户端层</a:t>
            </a:r>
            <a:endParaRPr lang="en-US" sz="1580" dirty="0"/>
          </a:p>
        </p:txBody>
      </p:sp>
      <p:sp>
        <p:nvSpPr>
          <p:cNvPr id="10" name="Shape 7"/>
          <p:cNvSpPr/>
          <p:nvPr/>
        </p:nvSpPr>
        <p:spPr>
          <a:xfrm>
            <a:off x="1252728" y="2834640"/>
            <a:ext cx="1417320" cy="0"/>
          </a:xfrm>
          <a:prstGeom prst="line">
            <a:avLst/>
          </a:prstGeom>
          <a:noFill/>
          <a:ln w="25400">
            <a:solidFill>
              <a:srgbClr val="174E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1546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Web/H5 管理端</a:t>
            </a:r>
            <a:endParaRPr lang="en-US" sz="1002" dirty="0"/>
          </a:p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微信小程序端</a:t>
            </a:r>
            <a:endParaRPr lang="en-US" sz="1002" dirty="0"/>
          </a:p>
        </p:txBody>
      </p:sp>
      <p:sp>
        <p:nvSpPr>
          <p:cNvPr id="12" name="Text 9"/>
          <p:cNvSpPr/>
          <p:nvPr/>
        </p:nvSpPr>
        <p:spPr>
          <a:xfrm>
            <a:off x="3191256" y="28620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630168" y="1700784"/>
            <a:ext cx="2240280" cy="2880360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C8D6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4568" y="19019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2450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接口服务层</a:t>
            </a:r>
            <a:endParaRPr lang="en-US" sz="1580" dirty="0"/>
          </a:p>
        </p:txBody>
      </p:sp>
      <p:sp>
        <p:nvSpPr>
          <p:cNvPr id="16" name="Shape 12"/>
          <p:cNvSpPr/>
          <p:nvPr/>
        </p:nvSpPr>
        <p:spPr>
          <a:xfrm>
            <a:off x="4041648" y="2834640"/>
            <a:ext cx="1417320" cy="0"/>
          </a:xfrm>
          <a:prstGeom prst="line">
            <a:avLst/>
          </a:prstGeom>
          <a:noFill/>
          <a:ln w="25400">
            <a:solidFill>
              <a:srgbClr val="C28A3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86200" y="31546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Blueprints</a:t>
            </a:r>
            <a:endParaRPr lang="en-US" sz="1002" dirty="0"/>
          </a:p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/api 路由</a:t>
            </a:r>
            <a:endParaRPr lang="en-US" sz="1002" dirty="0"/>
          </a:p>
        </p:txBody>
      </p:sp>
      <p:sp>
        <p:nvSpPr>
          <p:cNvPr id="18" name="Text 14"/>
          <p:cNvSpPr/>
          <p:nvPr/>
        </p:nvSpPr>
        <p:spPr>
          <a:xfrm>
            <a:off x="5980176" y="28620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419088" y="1700784"/>
            <a:ext cx="2240280" cy="2880360"/>
          </a:xfrm>
          <a:prstGeom prst="roundRect">
            <a:avLst/>
          </a:prstGeom>
          <a:solidFill>
            <a:srgbClr val="E6EEF2"/>
          </a:solidFill>
          <a:ln w="12700">
            <a:solidFill>
              <a:srgbClr val="C8D6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3488" y="190195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01968" y="2450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580" dirty="0"/>
          </a:p>
        </p:txBody>
      </p:sp>
      <p:sp>
        <p:nvSpPr>
          <p:cNvPr id="22" name="Shape 17"/>
          <p:cNvSpPr/>
          <p:nvPr/>
        </p:nvSpPr>
        <p:spPr>
          <a:xfrm>
            <a:off x="6830568" y="2834640"/>
            <a:ext cx="1417320" cy="0"/>
          </a:xfrm>
          <a:prstGeom prst="line">
            <a:avLst/>
          </a:prstGeom>
          <a:noFill/>
          <a:ln w="25400">
            <a:solidFill>
              <a:srgbClr val="2D6F8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75120" y="31546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/ 审批 / 统计</a:t>
            </a:r>
            <a:endParaRPr lang="en-US" sz="1002" dirty="0"/>
          </a:p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工具执行</a:t>
            </a:r>
            <a:endParaRPr lang="en-US" sz="1002" dirty="0"/>
          </a:p>
        </p:txBody>
      </p:sp>
      <p:sp>
        <p:nvSpPr>
          <p:cNvPr id="24" name="Text 19"/>
          <p:cNvSpPr/>
          <p:nvPr/>
        </p:nvSpPr>
        <p:spPr>
          <a:xfrm>
            <a:off x="8769096" y="28620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208008" y="1700784"/>
            <a:ext cx="2240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D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2408" y="1901952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90888" y="2450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数据持久层</a:t>
            </a:r>
            <a:endParaRPr lang="en-US" sz="1580" dirty="0"/>
          </a:p>
        </p:txBody>
      </p:sp>
      <p:sp>
        <p:nvSpPr>
          <p:cNvPr id="28" name="Shape 22"/>
          <p:cNvSpPr/>
          <p:nvPr/>
        </p:nvSpPr>
        <p:spPr>
          <a:xfrm>
            <a:off x="9619488" y="2834640"/>
            <a:ext cx="1417320" cy="0"/>
          </a:xfrm>
          <a:prstGeom prst="line">
            <a:avLst/>
          </a:prstGeom>
          <a:noFill/>
          <a:ln w="25400">
            <a:solidFill>
              <a:srgbClr val="7BA36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464040" y="31546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ORM</a:t>
            </a:r>
            <a:endParaRPr lang="en-US" sz="1002" dirty="0"/>
          </a:p>
          <a:p>
            <a:pPr algn="ctr" indent="0" marL="0">
              <a:buNone/>
            </a:pPr>
            <a:r>
              <a:rPr lang="en-US" sz="1002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SQLite</a:t>
            </a:r>
            <a:endParaRPr lang="en-US" sz="1002" dirty="0"/>
          </a:p>
        </p:txBody>
      </p:sp>
      <p:sp>
        <p:nvSpPr>
          <p:cNvPr id="30" name="Shape 24"/>
          <p:cNvSpPr/>
          <p:nvPr/>
        </p:nvSpPr>
        <p:spPr>
          <a:xfrm>
            <a:off x="868680" y="5230368"/>
            <a:ext cx="10469880" cy="475488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78992" y="5404104"/>
            <a:ext cx="10058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多端不重复实现核心业务规则，统一由后端服务层校验预约冲突、容量、开放时间和权限边界。</a:t>
            </a:r>
            <a:endParaRPr lang="en-US" sz="1020" dirty="0"/>
          </a:p>
        </p:txBody>
      </p:sp>
      <p:sp>
        <p:nvSpPr>
          <p:cNvPr id="32" name="Text 26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核心数据模型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721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1764792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角色 / 校区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749040" y="1042416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16128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3886200" y="145389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校区资源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720840" y="1353312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4721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Laboratory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858000" y="1764792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/ 开放时间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281160" y="2542032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26609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9418320" y="2953512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设备状态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749040" y="3246120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36499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3886200" y="365760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预约时段 / 状态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720840" y="3246120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36499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6858000" y="365760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68680" y="4370832"/>
            <a:ext cx="2331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4897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OperationLog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1005840" y="4782312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3108960" y="1737360"/>
            <a:ext cx="640080" cy="-292608"/>
          </a:xfrm>
          <a:prstGeom prst="line">
            <a:avLst/>
          </a:prstGeom>
          <a:noFill/>
          <a:ln w="12700">
            <a:solidFill>
              <a:srgbClr val="9FB1A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0760" y="1444752"/>
            <a:ext cx="640080" cy="292608"/>
          </a:xfrm>
          <a:prstGeom prst="line">
            <a:avLst/>
          </a:prstGeom>
          <a:noFill/>
          <a:ln w="12700">
            <a:solidFill>
              <a:srgbClr val="9FB1A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19472" y="1792224"/>
            <a:ext cx="0" cy="1453896"/>
          </a:xfrm>
          <a:prstGeom prst="line">
            <a:avLst/>
          </a:prstGeom>
          <a:noFill/>
          <a:ln w="12700">
            <a:solidFill>
              <a:srgbClr val="9FB1A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09560" y="2103120"/>
            <a:ext cx="0" cy="1143000"/>
          </a:xfrm>
          <a:prstGeom prst="line">
            <a:avLst/>
          </a:prstGeom>
          <a:noFill/>
          <a:ln w="12700">
            <a:solidFill>
              <a:srgbClr val="9FB1A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52560" y="2907792"/>
            <a:ext cx="228600" cy="0"/>
          </a:xfrm>
          <a:prstGeom prst="line">
            <a:avLst/>
          </a:prstGeom>
          <a:noFill/>
          <a:ln w="12700">
            <a:solidFill>
              <a:srgbClr val="9FB1A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00400" y="4690872"/>
            <a:ext cx="548640" cy="-1078992"/>
          </a:xfrm>
          <a:prstGeom prst="line">
            <a:avLst/>
          </a:prstGeom>
          <a:noFill/>
          <a:ln w="12700">
            <a:solidFill>
              <a:srgbClr val="9FB1A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9808" y="5532120"/>
            <a:ext cx="10698480" cy="438912"/>
          </a:xfrm>
          <a:prstGeom prst="roundRect">
            <a:avLst/>
          </a:prstGeom>
          <a:solidFill>
            <a:srgbClr val="EEF3EE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687568"/>
            <a:ext cx="10195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模型主线：以“校区 - 实验室 - 预约”为核心，叠加审批记录和操作日志，支撑跨校区查询、权限隔离与审计追踪。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预约业务流程与规则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353312"/>
            <a:ext cx="190195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609344"/>
            <a:ext cx="438912" cy="438912"/>
          </a:xfrm>
          <a:prstGeom prst="roundRect">
            <a:avLst/>
          </a:prstGeom>
          <a:solidFill>
            <a:srgbClr val="174E63"/>
          </a:solidFill>
          <a:ln w="12700">
            <a:solidFill>
              <a:srgbClr val="174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28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提交申请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786384" y="27706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校区、实验室、日期、时间、人数、用途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9464" y="24688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907792" y="1353312"/>
            <a:ext cx="190195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609344"/>
            <a:ext cx="438912" cy="438912"/>
          </a:xfrm>
          <a:prstGeom prst="roundRect">
            <a:avLst/>
          </a:prstGeom>
          <a:solidFill>
            <a:srgbClr val="2D6F8F"/>
          </a:solidFill>
          <a:ln w="12700">
            <a:solidFill>
              <a:srgbClr val="2D6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728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72384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基础校验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108960" y="27706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必填、实验室状态、校区一致性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230368" y="1353312"/>
            <a:ext cx="190195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609344"/>
            <a:ext cx="438912" cy="438912"/>
          </a:xfrm>
          <a:prstGeom prst="roundRect">
            <a:avLst/>
          </a:prstGeom>
          <a:solidFill>
            <a:srgbClr val="C28A3A"/>
          </a:solidFill>
          <a:ln w="12700">
            <a:solidFill>
              <a:srgbClr val="C28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728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时段校验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5431536" y="27706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开始早于结束，并处于开放时间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214616" y="24688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52944" y="1353312"/>
            <a:ext cx="190195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5824" y="1609344"/>
            <a:ext cx="438912" cy="438912"/>
          </a:xfrm>
          <a:prstGeom prst="roundRect">
            <a:avLst/>
          </a:prstGeom>
          <a:solidFill>
            <a:srgbClr val="B75F32"/>
          </a:solidFill>
          <a:ln w="12700">
            <a:solidFill>
              <a:srgbClr val="B75F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35824" y="1728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17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容量与冲突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7754112" y="27706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人数不超容量，不与有效预约重叠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537192" y="24688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9875520" y="1353312"/>
            <a:ext cx="190195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1609344"/>
            <a:ext cx="438912" cy="438912"/>
          </a:xfrm>
          <a:prstGeom prst="roundRect">
            <a:avLst/>
          </a:prstGeom>
          <a:solidFill>
            <a:srgbClr val="7BA36D"/>
          </a:solidFill>
          <a:ln w="12700">
            <a:solidFill>
              <a:srgbClr val="7BA3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1728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40112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审批流转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10076688" y="27706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学生/教师待审批，管理员可自动通过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77824" y="4709160"/>
            <a:ext cx="10405872" cy="786384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4983480"/>
            <a:ext cx="9930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关键判断：冲突检测、开放时间、容量限制、权限边界都在服务层裁决，Agent 与前端不能绕过规则。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3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权限与安全控制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6E87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98448"/>
            <a:ext cx="3246120" cy="3154680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98448"/>
            <a:ext cx="3246120" cy="91440"/>
          </a:xfrm>
          <a:prstGeom prst="rect">
            <a:avLst/>
          </a:prstGeom>
          <a:solidFill>
            <a:srgbClr val="7BA36D"/>
          </a:solidFill>
          <a:ln w="12700">
            <a:solidFill>
              <a:srgbClr val="7BA3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1907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登录鉴权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1042416" y="23957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6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登录后签发 token，敏感接口统一校验身份，适配前后端分离的无状态认证。</a:t>
            </a:r>
            <a:endParaRPr lang="en-US" sz="1076" dirty="0"/>
          </a:p>
        </p:txBody>
      </p:sp>
      <p:sp>
        <p:nvSpPr>
          <p:cNvPr id="9" name="Shape 7"/>
          <p:cNvSpPr/>
          <p:nvPr/>
        </p:nvSpPr>
        <p:spPr>
          <a:xfrm>
            <a:off x="4544568" y="1298448"/>
            <a:ext cx="3246120" cy="3154680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298448"/>
            <a:ext cx="3246120" cy="91440"/>
          </a:xfrm>
          <a:prstGeom prst="rect">
            <a:avLst/>
          </a:prstGeom>
          <a:solidFill>
            <a:srgbClr val="C28A3A"/>
          </a:solidFill>
          <a:ln w="12700">
            <a:solidFill>
              <a:srgbClr val="C2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71907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角色权限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837176" y="23957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6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student、teacher、lab_admin、system_admin 分配功能入口和接口权限。</a:t>
            </a:r>
            <a:endParaRPr lang="en-US" sz="1076" dirty="0"/>
          </a:p>
        </p:txBody>
      </p:sp>
      <p:sp>
        <p:nvSpPr>
          <p:cNvPr id="13" name="Shape 11"/>
          <p:cNvSpPr/>
          <p:nvPr/>
        </p:nvSpPr>
        <p:spPr>
          <a:xfrm>
            <a:off x="8339328" y="1298448"/>
            <a:ext cx="3246120" cy="3154680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1298448"/>
            <a:ext cx="3246120" cy="91440"/>
          </a:xfrm>
          <a:prstGeom prst="rect">
            <a:avLst/>
          </a:prstGeom>
          <a:solidFill>
            <a:srgbClr val="2D6F8F"/>
          </a:solidFill>
          <a:ln w="12700">
            <a:solidFill>
              <a:srgbClr val="2D6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71907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校区数据边界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8631936" y="23957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6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实验室管理员只能管理本校区实验室、设备、预约和统计，系统管理员维护全局。</a:t>
            </a:r>
            <a:endParaRPr lang="en-US" sz="1076" dirty="0"/>
          </a:p>
        </p:txBody>
      </p:sp>
      <p:sp>
        <p:nvSpPr>
          <p:cNvPr id="17" name="Text 15"/>
          <p:cNvSpPr/>
          <p:nvPr/>
        </p:nvSpPr>
        <p:spPr>
          <a:xfrm>
            <a:off x="868680" y="5321808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模型负责理解和规划，系统负责校验和执行：智能能力被纳入权限边界之内。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FD1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多端协同访问与前端组织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15568"/>
            <a:ext cx="513892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H5 管理端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15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面向系统管理员和实验室管理员，用于用户维护、校区/实验室/设备管理、审批处理、统计分析。</a:t>
            </a:r>
            <a:endParaRPr lang="en-US" sz="1246" dirty="0"/>
          </a:p>
        </p:txBody>
      </p:sp>
      <p:sp>
        <p:nvSpPr>
          <p:cNvPr id="8" name="Shape 6"/>
          <p:cNvSpPr/>
          <p:nvPr/>
        </p:nvSpPr>
        <p:spPr>
          <a:xfrm>
            <a:off x="1005840" y="3584448"/>
            <a:ext cx="4069080" cy="0"/>
          </a:xfrm>
          <a:prstGeom prst="line">
            <a:avLst/>
          </a:prstGeom>
          <a:noFill/>
          <a:ln w="25400">
            <a:solidFill>
              <a:srgbClr val="174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80390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高频管理任务集中处理，适合桌面端信息密度。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345936" y="1115568"/>
            <a:ext cx="513892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微信小程序端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20256" y="2103120"/>
            <a:ext cx="4315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面向学生和教师，用于浏览校区、查询实验室、提交预约、查看个人预约、使用 Agent 助手。</a:t>
            </a:r>
            <a:endParaRPr lang="en-US" sz="1246" dirty="0"/>
          </a:p>
        </p:txBody>
      </p:sp>
      <p:sp>
        <p:nvSpPr>
          <p:cNvPr id="13" name="Shape 11"/>
          <p:cNvSpPr/>
          <p:nvPr/>
        </p:nvSpPr>
        <p:spPr>
          <a:xfrm>
            <a:off x="6620256" y="3584448"/>
            <a:ext cx="4059936" cy="0"/>
          </a:xfrm>
          <a:prstGeom prst="line">
            <a:avLst/>
          </a:prstGeom>
          <a:noFill/>
          <a:ln w="25400">
            <a:solidFill>
              <a:srgbClr val="C28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380390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C28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轻量查询与预约入口更适合移动场景。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4400" y="5166360"/>
            <a:ext cx="10332720" cy="420624"/>
          </a:xfrm>
          <a:prstGeom prst="roundRect">
            <a:avLst/>
          </a:prstGeom>
          <a:solidFill>
            <a:srgbClr val="EEF3EE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321808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前端结构：api / common / components / config / pages 分层，路由、会话、平台差异和页面壳集中管理。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系统页面与资源展示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pic>
        <p:nvPicPr>
          <p:cNvPr id="5" name="Image 0" descr="C:\Users\Ete'rna'l\Desktop\毕设\lab\frontend\static\campuses\haidian.jpg">    </p:cNvPr>
          <p:cNvPicPr>
            <a:picLocks noChangeAspect="1"/>
          </p:cNvPicPr>
          <p:nvPr/>
        </p:nvPicPr>
        <p:blipFill>
          <a:blip r:embed="rId1"/>
          <a:srcRect l="8471" r="8471" t="0" b="0"/>
          <a:stretch/>
        </p:blipFill>
        <p:spPr>
          <a:xfrm>
            <a:off x="694944" y="1188720"/>
            <a:ext cx="2404872" cy="1371600"/>
          </a:xfrm>
          <a:prstGeom prst="rect">
            <a:avLst/>
          </a:prstGeom>
        </p:spPr>
      </p:pic>
      <p:pic>
        <p:nvPicPr>
          <p:cNvPr id="6" name="Image 1" descr="C:\Users\Ete'rna'l\Desktop\毕设\lab\frontend\static\campuses\fengtai.jpg">    </p:cNvPr>
          <p:cNvPicPr>
            <a:picLocks noChangeAspect="1"/>
          </p:cNvPicPr>
          <p:nvPr/>
        </p:nvPicPr>
        <p:blipFill>
          <a:blip r:embed="rId2"/>
          <a:srcRect l="22482" r="22482" t="0" b="0"/>
          <a:stretch/>
        </p:blipFill>
        <p:spPr>
          <a:xfrm>
            <a:off x="3557016" y="1188720"/>
            <a:ext cx="2404872" cy="1371600"/>
          </a:xfrm>
          <a:prstGeom prst="rect">
            <a:avLst/>
          </a:prstGeom>
        </p:spPr>
      </p:pic>
      <p:pic>
        <p:nvPicPr>
          <p:cNvPr id="7" name="Image 2" descr="C:\Users\Ete'rna'l\Desktop\毕设\lab\frontend\static\campuses\hainan.jpg">    </p:cNvPr>
          <p:cNvPicPr>
            <a:picLocks noChangeAspect="1"/>
          </p:cNvPicPr>
          <p:nvPr/>
        </p:nvPicPr>
        <p:blipFill>
          <a:blip r:embed="rId3"/>
          <a:srcRect l="21874" r="21874" t="0" b="0"/>
          <a:stretch/>
        </p:blipFill>
        <p:spPr>
          <a:xfrm>
            <a:off x="6419088" y="1188720"/>
            <a:ext cx="2404872" cy="1371600"/>
          </a:xfrm>
          <a:prstGeom prst="rect">
            <a:avLst/>
          </a:prstGeom>
        </p:spPr>
      </p:pic>
      <p:pic>
        <p:nvPicPr>
          <p:cNvPr id="8" name="Image 3" descr="C:\Users\Ete'rna'l\Desktop\毕设\lab\frontend\static\campuses\zhongyangminzudaxue.jpg">    </p:cNvPr>
          <p:cNvPicPr>
            <a:picLocks noChangeAspect="1"/>
          </p:cNvPicPr>
          <p:nvPr/>
        </p:nvPicPr>
        <p:blipFill>
          <a:blip r:embed="rId4"/>
          <a:srcRect l="12468" r="12468" t="0" b="0"/>
          <a:stretch/>
        </p:blipFill>
        <p:spPr>
          <a:xfrm>
            <a:off x="9281160" y="1188720"/>
            <a:ext cx="2404872" cy="1371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9808" y="312724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系统将校区、实验室、设备和预约记录统一组织，用户可按校区浏览资源，管理员可按校区维护数据。</a:t>
            </a:r>
            <a:endParaRPr lang="en-US" sz="800" dirty="0"/>
          </a:p>
        </p:txBody>
      </p:sp>
      <p:sp>
        <p:nvSpPr>
          <p:cNvPr id="10" name="Shape 4"/>
          <p:cNvSpPr/>
          <p:nvPr/>
        </p:nvSpPr>
        <p:spPr>
          <a:xfrm>
            <a:off x="5559552" y="2999232"/>
            <a:ext cx="24048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760720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492240" y="323697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类用户角色</a:t>
            </a:r>
            <a:endParaRPr lang="en-US" sz="930" dirty="0"/>
          </a:p>
        </p:txBody>
      </p:sp>
      <p:sp>
        <p:nvSpPr>
          <p:cNvPr id="13" name="Shape 7"/>
          <p:cNvSpPr/>
          <p:nvPr/>
        </p:nvSpPr>
        <p:spPr>
          <a:xfrm>
            <a:off x="8449056" y="2999232"/>
            <a:ext cx="24048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650224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8+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9381744" y="323697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核心业务模块</a:t>
            </a:r>
            <a:endParaRPr lang="en-US" sz="930" dirty="0"/>
          </a:p>
        </p:txBody>
      </p:sp>
      <p:sp>
        <p:nvSpPr>
          <p:cNvPr id="16" name="Shape 10"/>
          <p:cNvSpPr/>
          <p:nvPr/>
        </p:nvSpPr>
        <p:spPr>
          <a:xfrm>
            <a:off x="5559552" y="4059936"/>
            <a:ext cx="24048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760720" y="41879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492240" y="429768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访问终端</a:t>
            </a:r>
            <a:endParaRPr lang="en-US" sz="930" dirty="0"/>
          </a:p>
        </p:txBody>
      </p:sp>
      <p:sp>
        <p:nvSpPr>
          <p:cNvPr id="19" name="Shape 13"/>
          <p:cNvSpPr/>
          <p:nvPr/>
        </p:nvSpPr>
        <p:spPr>
          <a:xfrm>
            <a:off x="8449056" y="4059936"/>
            <a:ext cx="240487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650224" y="41879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A3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9381744" y="429768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统一后端 API</a:t>
            </a:r>
            <a:endParaRPr lang="en-US" sz="930" dirty="0"/>
          </a:p>
        </p:txBody>
      </p:sp>
      <p:sp>
        <p:nvSpPr>
          <p:cNvPr id="22" name="Text 16"/>
          <p:cNvSpPr/>
          <p:nvPr/>
        </p:nvSpPr>
        <p:spPr>
          <a:xfrm>
            <a:off x="749808" y="5358384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展示重点不只是页面数量，而是多端共用同一套后端规则，减少系统维护和数据不一致风险。</a:t>
            </a:r>
            <a:endParaRPr lang="en-US" sz="1120" dirty="0"/>
          </a:p>
        </p:txBody>
      </p:sp>
      <p:sp>
        <p:nvSpPr>
          <p:cNvPr id="23" name="Text 17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智能助手设计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241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不是直接操作数据库，而是自然语言入口和任务规划器。</a:t>
            </a:r>
            <a:endParaRPr lang="en-US" sz="1248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2331720" cy="1335024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597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规则抽取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987552" y="2898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日期、时间、人数、用途、校区、实验室偏好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55264" y="27706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39312" y="2240280"/>
            <a:ext cx="2331720" cy="1335024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4597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规划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3803904" y="2898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根据上下文选择下一步工具与参数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1616" y="27706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55664" y="2240280"/>
            <a:ext cx="2331720" cy="1335024"/>
          </a:xfrm>
          <a:prstGeom prst="roundRect">
            <a:avLst/>
          </a:prstGeom>
          <a:solidFill>
            <a:srgbClr val="E6EEF2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24597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620256" y="2898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查询排期、推荐实验室、检查可用性、创建预约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87968" y="27706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72016" y="2240280"/>
            <a:ext cx="233172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24597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服务层校验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9436608" y="2898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冲突、容量、开放时间、权限边界最终裁决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77824" y="4864608"/>
            <a:ext cx="10332720" cy="548640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065776"/>
            <a:ext cx="9921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价值：保留自然语言交互体验，同时保证业务系统可控、可审计、可降级。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工具体系与预约链路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15568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query_labs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425696" y="1115568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234440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query_schedule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193024" y="1115568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66176" y="1234440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check_availability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58368" y="1700784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19656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recommend_lab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25696" y="1700784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819656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recommend_time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193024" y="1700784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819656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create_reservation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58368" y="2286000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04872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my_reservations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425696" y="2286000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404872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cancel_reservation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193024" y="2286000"/>
            <a:ext cx="3054096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2404872"/>
            <a:ext cx="2907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explain_rules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58368" y="3858768"/>
            <a:ext cx="1517904" cy="65836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240280" y="40416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9464" y="3858768"/>
            <a:ext cx="1517904" cy="65836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抽取表单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151376" y="40416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80560" y="3858768"/>
            <a:ext cx="1517904" cy="65836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选择工具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6062472" y="40416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91656" y="3858768"/>
            <a:ext cx="1517904" cy="65836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后端执行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973568" y="40416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02752" y="3858768"/>
            <a:ext cx="1517904" cy="65836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业务校验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9884664" y="40416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213848" y="3858768"/>
            <a:ext cx="1517904" cy="658368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CFDC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回复/跳转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822960" y="5394960"/>
            <a:ext cx="10515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多轮会话保存 last_labs、last_recommended_time 等上下文，支持“就第一个”“就这个时间”等省略表达。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关键实现亮点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143000"/>
            <a:ext cx="49194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143000"/>
            <a:ext cx="73152" cy="1371600"/>
          </a:xfrm>
          <a:prstGeom prst="rect">
            <a:avLst/>
          </a:prstGeom>
          <a:solidFill>
            <a:srgbClr val="174E63"/>
          </a:solidFill>
          <a:ln w="12700">
            <a:solidFill>
              <a:srgbClr val="174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后端分层清晰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层处理入口，Service 层承载业务，Model 层管理实体关系，Utils 层提供通用响应和校验。</a:t>
            </a:r>
            <a:endParaRPr lang="en-US" sz="1017" dirty="0"/>
          </a:p>
        </p:txBody>
      </p:sp>
      <p:sp>
        <p:nvSpPr>
          <p:cNvPr id="9" name="Shape 7"/>
          <p:cNvSpPr/>
          <p:nvPr/>
        </p:nvSpPr>
        <p:spPr>
          <a:xfrm>
            <a:off x="6272784" y="1143000"/>
            <a:ext cx="49194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2784" y="1143000"/>
            <a:ext cx="73152" cy="1371600"/>
          </a:xfrm>
          <a:prstGeom prst="rect">
            <a:avLst/>
          </a:prstGeom>
          <a:solidFill>
            <a:srgbClr val="C28A3A"/>
          </a:solidFill>
          <a:ln w="12700">
            <a:solidFill>
              <a:srgbClr val="C2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325880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预约冲突集中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73952" y="1728216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预约创建统一检测有效状态下的时间重叠，避免 Web、小程序和 Agent 出现规则差异。</a:t>
            </a:r>
            <a:endParaRPr lang="en-US" sz="1017" dirty="0"/>
          </a:p>
        </p:txBody>
      </p:sp>
      <p:sp>
        <p:nvSpPr>
          <p:cNvPr id="13" name="Shape 11"/>
          <p:cNvSpPr/>
          <p:nvPr/>
        </p:nvSpPr>
        <p:spPr>
          <a:xfrm>
            <a:off x="713232" y="3081528"/>
            <a:ext cx="49194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081528"/>
            <a:ext cx="73152" cy="1371600"/>
          </a:xfrm>
          <a:prstGeom prst="rect">
            <a:avLst/>
          </a:prstGeom>
          <a:solidFill>
            <a:srgbClr val="7BA36D"/>
          </a:solidFill>
          <a:ln w="12700">
            <a:solidFill>
              <a:srgbClr val="7BA3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6440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可降级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3666744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大模型不可用时保留规则模式，个人预约、排期查询、取消预约等基础功能仍可运行。</a:t>
            </a:r>
            <a:endParaRPr lang="en-US" sz="1017" dirty="0"/>
          </a:p>
        </p:txBody>
      </p:sp>
      <p:sp>
        <p:nvSpPr>
          <p:cNvPr id="17" name="Shape 15"/>
          <p:cNvSpPr/>
          <p:nvPr/>
        </p:nvSpPr>
        <p:spPr>
          <a:xfrm>
            <a:off x="6272784" y="3081528"/>
            <a:ext cx="49194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  <a:effectLst>
            <a:outerShdw sx="100000" sy="100000" kx="0" ky="0" algn="bl" rotWithShape="0" blurRad="19050" dist="12700" dir="2700000">
              <a:srgbClr val="50605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3081528"/>
            <a:ext cx="73152" cy="1371600"/>
          </a:xfrm>
          <a:prstGeom prst="rect">
            <a:avLst/>
          </a:prstGeom>
          <a:solidFill>
            <a:srgbClr val="2D6F8F"/>
          </a:solidFill>
          <a:ln w="12700">
            <a:solidFill>
              <a:srgbClr val="2D6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26440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操作可追踪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73952" y="3666744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审批、预约和管理操作写入日志，为系统审计、问题回溯和答辩说明提供依据。</a:t>
            </a:r>
            <a:endParaRPr lang="en-US" sz="1017" dirty="0"/>
          </a:p>
        </p:txBody>
      </p:sp>
      <p:sp>
        <p:nvSpPr>
          <p:cNvPr id="21" name="Text 19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3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D8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系统测试与结果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6E87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4800600" cy="932688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1417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登录、资源管理、预约、审批、统计、Agent 对话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73152" cy="932688"/>
          </a:xfrm>
          <a:prstGeom prst="rect">
            <a:avLst/>
          </a:prstGeom>
          <a:solidFill>
            <a:srgbClr val="7BA36D"/>
          </a:solidFill>
          <a:ln w="12700">
            <a:solidFill>
              <a:srgbClr val="7BA3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234440"/>
            <a:ext cx="4800600" cy="932688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权限测试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角色入口、接口鉴权、校区级数据范围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73152" cy="932688"/>
          </a:xfrm>
          <a:prstGeom prst="rect">
            <a:avLst/>
          </a:prstGeom>
          <a:solidFill>
            <a:srgbClr val="C28A3A"/>
          </a:solidFill>
          <a:ln w="12700">
            <a:solidFill>
              <a:srgbClr val="C28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715768"/>
            <a:ext cx="4800600" cy="932688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8986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边界测试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容量超限、时间非法、预约冲突、缺参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2715768"/>
            <a:ext cx="73152" cy="932688"/>
          </a:xfrm>
          <a:prstGeom prst="rect">
            <a:avLst/>
          </a:prstGeom>
          <a:solidFill>
            <a:srgbClr val="2D6F8F"/>
          </a:solidFill>
          <a:ln w="12700">
            <a:solidFill>
              <a:srgbClr val="2D6F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715768"/>
            <a:ext cx="4800600" cy="932688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A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8986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稳定性测试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2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不可用时规则兜底，接口统一错误返回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55080" y="2715768"/>
            <a:ext cx="73152" cy="932688"/>
          </a:xfrm>
          <a:prstGeom prst="rect">
            <a:avLst/>
          </a:prstGeom>
          <a:solidFill>
            <a:srgbClr val="B75F32"/>
          </a:solidFill>
          <a:ln w="12700">
            <a:solidFill>
              <a:srgbClr val="B75F32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1143000" y="4315968"/>
          <a:ext cx="4389120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897880" y="468172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测试结论：系统能够覆盖多角色、多校区、多终端条件下的核心实验室预约管理需求。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FD1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72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25296" y="201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713232"/>
            <a:ext cx="11228832" cy="0"/>
          </a:xfrm>
          <a:prstGeom prst="line">
            <a:avLst/>
          </a:prstGeom>
          <a:noFill/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51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41248" y="1755648"/>
            <a:ext cx="4480560" cy="329184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跨校区实验室资源模型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258568"/>
            <a:ext cx="4480560" cy="329184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5000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预约冲突检测与审批流转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2761488"/>
            <a:ext cx="4480560" cy="329184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5292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Web/H5 与微信小程序多端访问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264408"/>
            <a:ext cx="4480560" cy="329184"/>
          </a:xfrm>
          <a:prstGeom prst="roundRect">
            <a:avLst/>
          </a:prstGeom>
          <a:solidFill>
            <a:srgbClr val="E5F0EA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5584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面向预约场景的 Agent 智能助手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19088" y="1051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后续优化方向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28816" y="1755648"/>
            <a:ext cx="4480560" cy="329184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84708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8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接入统一身份认证与校园门户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28816" y="2258568"/>
            <a:ext cx="4480560" cy="329184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35000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8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增加消息通知与审批提醒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2761488"/>
            <a:ext cx="4480560" cy="329184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85292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8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扩展统计预测与资源优化算法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28816" y="3264408"/>
            <a:ext cx="4480560" cy="329184"/>
          </a:xfrm>
          <a:prstGeom prst="roundRect">
            <a:avLst/>
          </a:prstGeom>
          <a:solidFill>
            <a:srgbClr val="F8EBCD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35584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8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Agent 多轮规划和解释能力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5029200"/>
            <a:ext cx="10661904" cy="658368"/>
          </a:xfrm>
          <a:prstGeom prst="rect">
            <a:avLst/>
          </a:prstGeom>
          <a:solidFill>
            <a:srgbClr val="113A48"/>
          </a:solidFill>
          <a:ln w="12700">
            <a:solidFill>
              <a:srgbClr val="113A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266944"/>
            <a:ext cx="10168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核心贡献：把跨校区资源协同、权限控制、预约业务规则和智能助手整合为一套可运行系统。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75488" y="64648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3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" y="150876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645920" y="274320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7E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欢迎批评指正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834640" y="3657600"/>
            <a:ext cx="6528816" cy="0"/>
          </a:xfrm>
          <a:prstGeom prst="line">
            <a:avLst/>
          </a:prstGeom>
          <a:noFill/>
          <a:ln w="27940">
            <a:solidFill>
              <a:srgbClr val="C28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42519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支持跨校区协作的分布式实验室管理系统设计与实现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毕业设计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支持跨校区协作的分布式实验室管理系统设计与实现</dc:title>
  <dc:subject>支持跨校区协作的分布式实验室管理系统毕业答辩</dc:subject>
  <dc:creator>Codex</dc:creator>
  <cp:lastModifiedBy>Codex</cp:lastModifiedBy>
  <cp:revision>1</cp:revision>
  <dcterms:created xsi:type="dcterms:W3CDTF">2026-04-24T13:31:09Z</dcterms:created>
  <dcterms:modified xsi:type="dcterms:W3CDTF">2026-04-24T13:31:09Z</dcterms:modified>
</cp:coreProperties>
</file>